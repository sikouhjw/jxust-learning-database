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6"/>
    <a:srgbClr val="FFFF00"/>
    <a:srgbClr val="CC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2" autoAdjust="0"/>
    <p:restoredTop sz="90929"/>
  </p:normalViewPr>
  <p:slideViewPr>
    <p:cSldViewPr>
      <p:cViewPr>
        <p:scale>
          <a:sx n="60" d="100"/>
          <a:sy n="60" d="100"/>
        </p:scale>
        <p:origin x="-1500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78862-C0BB-45EA-AE99-06A3718A64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5758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8AE83-5F22-4948-950C-10B8C435DD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5865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06597C-E9E0-48D7-B6E1-86F2FB1E89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5019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B6EBFC-27B4-4814-AF2A-4F4A3D4EFF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3861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3182BE-8293-4C5F-B423-79D8358A30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6405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DB37A4-DAFE-4DC5-A3FF-AE7600FD7D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282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BCE520-A385-409A-A716-3CF3E6F992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8058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DC52D-D691-45D9-92EB-7A15AAFE9D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775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F5BE59-C3A9-4441-A4FA-741526C5C7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345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A0136-A9AC-4627-897C-C33FC22D9F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5655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7D4136-6E4F-49F3-9751-42478E7E1D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0109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i="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/>
            </a:lvl1pPr>
          </a:lstStyle>
          <a:p>
            <a:fld id="{94AC1F50-A204-457A-9B7C-7298B0C4FAA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143000"/>
          </a:xfrm>
        </p:spPr>
        <p:txBody>
          <a:bodyPr/>
          <a:lstStyle/>
          <a:p>
            <a:r>
              <a:rPr lang="en-US" altLang="zh-CN" dirty="0">
                <a:solidFill>
                  <a:srgbClr val="0000E6"/>
                </a:solidFill>
                <a:latin typeface="Times New Roman" pitchFamily="18" charset="0"/>
                <a:cs typeface="Times New Roman" pitchFamily="18" charset="0"/>
              </a:rPr>
              <a:t>MODULE 1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2971800"/>
            <a:ext cx="6400800" cy="2057400"/>
          </a:xfrm>
        </p:spPr>
        <p:txBody>
          <a:bodyPr/>
          <a:lstStyle/>
          <a:p>
            <a:r>
              <a:rPr lang="en-US" altLang="zh-CN" sz="6000" b="1" dirty="0">
                <a:solidFill>
                  <a:srgbClr val="0000E6"/>
                </a:solidFill>
                <a:latin typeface="Times New Roman" pitchFamily="18" charset="0"/>
                <a:cs typeface="Times New Roman" pitchFamily="18" charset="0"/>
              </a:rPr>
              <a:t>Introduction to Feedback Control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 i="1" dirty="0"/>
              <a:t>Open-loop Control</a:t>
            </a:r>
            <a:endParaRPr lang="zh-CN" altLang="zh-CN" sz="4800" i="1" dirty="0"/>
          </a:p>
        </p:txBody>
      </p:sp>
      <p:grpSp>
        <p:nvGrpSpPr>
          <p:cNvPr id="6159" name="Group 15"/>
          <p:cNvGrpSpPr>
            <a:grpSpLocks/>
          </p:cNvGrpSpPr>
          <p:nvPr/>
        </p:nvGrpSpPr>
        <p:grpSpPr bwMode="auto">
          <a:xfrm>
            <a:off x="1524000" y="2438400"/>
            <a:ext cx="6597650" cy="2317750"/>
            <a:chOff x="982" y="1201"/>
            <a:chExt cx="4156" cy="1460"/>
          </a:xfrm>
        </p:grpSpPr>
        <p:sp>
          <p:nvSpPr>
            <p:cNvPr id="6160" name="AutoShape 16"/>
            <p:cNvSpPr>
              <a:spLocks noChangeArrowheads="1"/>
            </p:cNvSpPr>
            <p:nvPr/>
          </p:nvSpPr>
          <p:spPr bwMode="auto">
            <a:xfrm>
              <a:off x="2901" y="1257"/>
              <a:ext cx="2237" cy="1388"/>
            </a:xfrm>
            <a:prstGeom prst="bevel">
              <a:avLst>
                <a:gd name="adj" fmla="val 19449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1" name="AutoShape 17"/>
            <p:cNvSpPr>
              <a:spLocks noChangeArrowheads="1"/>
            </p:cNvSpPr>
            <p:nvPr/>
          </p:nvSpPr>
          <p:spPr bwMode="auto">
            <a:xfrm>
              <a:off x="3272" y="1609"/>
              <a:ext cx="610" cy="512"/>
            </a:xfrm>
            <a:prstGeom prst="roundRect">
              <a:avLst>
                <a:gd name="adj" fmla="val 16667"/>
              </a:avLst>
            </a:prstGeom>
            <a:solidFill>
              <a:srgbClr val="FF66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2" name="Oval 18"/>
            <p:cNvSpPr>
              <a:spLocks noChangeArrowheads="1"/>
            </p:cNvSpPr>
            <p:nvPr/>
          </p:nvSpPr>
          <p:spPr bwMode="auto">
            <a:xfrm>
              <a:off x="1569" y="1651"/>
              <a:ext cx="134" cy="1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3" name="Oval 19"/>
            <p:cNvSpPr>
              <a:spLocks noChangeArrowheads="1"/>
            </p:cNvSpPr>
            <p:nvPr/>
          </p:nvSpPr>
          <p:spPr bwMode="auto">
            <a:xfrm>
              <a:off x="1484" y="2207"/>
              <a:ext cx="545" cy="4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4" name="Rectangle 20"/>
            <p:cNvSpPr>
              <a:spLocks noChangeArrowheads="1"/>
            </p:cNvSpPr>
            <p:nvPr/>
          </p:nvSpPr>
          <p:spPr bwMode="auto">
            <a:xfrm>
              <a:off x="1559" y="1544"/>
              <a:ext cx="502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5" name="Text Box 21"/>
            <p:cNvSpPr txBox="1">
              <a:spLocks noChangeArrowheads="1"/>
            </p:cNvSpPr>
            <p:nvPr/>
          </p:nvSpPr>
          <p:spPr bwMode="auto">
            <a:xfrm>
              <a:off x="1457" y="2260"/>
              <a:ext cx="6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0"/>
                <a:t>Power</a:t>
              </a:r>
            </a:p>
          </p:txBody>
        </p:sp>
        <p:sp>
          <p:nvSpPr>
            <p:cNvPr id="6166" name="AutoShape 22"/>
            <p:cNvSpPr>
              <a:spLocks noChangeArrowheads="1"/>
            </p:cNvSpPr>
            <p:nvPr/>
          </p:nvSpPr>
          <p:spPr bwMode="auto">
            <a:xfrm>
              <a:off x="1407" y="1201"/>
              <a:ext cx="196" cy="237"/>
            </a:xfrm>
            <a:prstGeom prst="upDownArrow">
              <a:avLst>
                <a:gd name="adj1" fmla="val 50000"/>
                <a:gd name="adj2" fmla="val 24184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7" name="AutoShape 23"/>
            <p:cNvSpPr>
              <a:spLocks noChangeArrowheads="1"/>
            </p:cNvSpPr>
            <p:nvPr/>
          </p:nvSpPr>
          <p:spPr bwMode="auto">
            <a:xfrm>
              <a:off x="1779" y="1307"/>
              <a:ext cx="76" cy="23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8" name="Text Box 24"/>
            <p:cNvSpPr txBox="1">
              <a:spLocks noChangeArrowheads="1"/>
            </p:cNvSpPr>
            <p:nvPr/>
          </p:nvSpPr>
          <p:spPr bwMode="auto">
            <a:xfrm>
              <a:off x="3260" y="1705"/>
              <a:ext cx="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0"/>
                <a:t>Heater</a:t>
              </a:r>
            </a:p>
          </p:txBody>
        </p:sp>
        <p:sp>
          <p:nvSpPr>
            <p:cNvPr id="6169" name="Line 25"/>
            <p:cNvSpPr>
              <a:spLocks noChangeShapeType="1"/>
            </p:cNvSpPr>
            <p:nvPr/>
          </p:nvSpPr>
          <p:spPr bwMode="auto">
            <a:xfrm flipV="1">
              <a:off x="4017" y="1669"/>
              <a:ext cx="393" cy="98"/>
            </a:xfrm>
            <a:prstGeom prst="line">
              <a:avLst/>
            </a:prstGeom>
            <a:noFill/>
            <a:ln w="9525">
              <a:solidFill>
                <a:srgbClr val="FF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0" name="Line 26"/>
            <p:cNvSpPr>
              <a:spLocks noChangeShapeType="1"/>
            </p:cNvSpPr>
            <p:nvPr/>
          </p:nvSpPr>
          <p:spPr bwMode="auto">
            <a:xfrm>
              <a:off x="4017" y="1909"/>
              <a:ext cx="589" cy="0"/>
            </a:xfrm>
            <a:prstGeom prst="line">
              <a:avLst/>
            </a:prstGeom>
            <a:noFill/>
            <a:ln w="9525">
              <a:solidFill>
                <a:srgbClr val="FF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1" name="Line 27"/>
            <p:cNvSpPr>
              <a:spLocks noChangeShapeType="1"/>
            </p:cNvSpPr>
            <p:nvPr/>
          </p:nvSpPr>
          <p:spPr bwMode="auto">
            <a:xfrm>
              <a:off x="4006" y="2084"/>
              <a:ext cx="469" cy="54"/>
            </a:xfrm>
            <a:prstGeom prst="line">
              <a:avLst/>
            </a:prstGeom>
            <a:noFill/>
            <a:ln w="9525">
              <a:solidFill>
                <a:srgbClr val="FF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2" name="Text Box 28"/>
            <p:cNvSpPr txBox="1">
              <a:spLocks noChangeArrowheads="1"/>
            </p:cNvSpPr>
            <p:nvPr/>
          </p:nvSpPr>
          <p:spPr bwMode="auto">
            <a:xfrm>
              <a:off x="4183" y="1247"/>
              <a:ext cx="7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0"/>
                <a:t>Furnace</a:t>
              </a:r>
            </a:p>
          </p:txBody>
        </p:sp>
        <p:sp>
          <p:nvSpPr>
            <p:cNvPr id="6173" name="Text Box 29"/>
            <p:cNvSpPr txBox="1">
              <a:spLocks noChangeArrowheads="1"/>
            </p:cNvSpPr>
            <p:nvPr/>
          </p:nvSpPr>
          <p:spPr bwMode="auto">
            <a:xfrm>
              <a:off x="1903" y="1236"/>
              <a:ext cx="6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0"/>
                <a:t>Switch</a:t>
              </a:r>
            </a:p>
          </p:txBody>
        </p:sp>
        <p:sp>
          <p:nvSpPr>
            <p:cNvPr id="6174" name="Rectangle 30"/>
            <p:cNvSpPr>
              <a:spLocks noChangeArrowheads="1"/>
            </p:cNvSpPr>
            <p:nvPr/>
          </p:nvSpPr>
          <p:spPr bwMode="auto">
            <a:xfrm>
              <a:off x="2040" y="1681"/>
              <a:ext cx="1245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5" name="Rectangle 31"/>
            <p:cNvSpPr>
              <a:spLocks noChangeArrowheads="1"/>
            </p:cNvSpPr>
            <p:nvPr/>
          </p:nvSpPr>
          <p:spPr bwMode="auto">
            <a:xfrm>
              <a:off x="982" y="1681"/>
              <a:ext cx="589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6" name="Rectangle 32"/>
            <p:cNvSpPr>
              <a:spLocks noChangeArrowheads="1"/>
            </p:cNvSpPr>
            <p:nvPr/>
          </p:nvSpPr>
          <p:spPr bwMode="auto">
            <a:xfrm>
              <a:off x="983" y="1724"/>
              <a:ext cx="47" cy="7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7" name="Rectangle 33"/>
            <p:cNvSpPr>
              <a:spLocks noChangeArrowheads="1"/>
            </p:cNvSpPr>
            <p:nvPr/>
          </p:nvSpPr>
          <p:spPr bwMode="auto">
            <a:xfrm>
              <a:off x="1026" y="2411"/>
              <a:ext cx="4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8" name="Rectangle 34"/>
            <p:cNvSpPr>
              <a:spLocks noChangeArrowheads="1"/>
            </p:cNvSpPr>
            <p:nvPr/>
          </p:nvSpPr>
          <p:spPr bwMode="auto">
            <a:xfrm>
              <a:off x="2029" y="2423"/>
              <a:ext cx="502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9" name="Rectangle 35"/>
            <p:cNvSpPr>
              <a:spLocks noChangeArrowheads="1"/>
            </p:cNvSpPr>
            <p:nvPr/>
          </p:nvSpPr>
          <p:spPr bwMode="auto">
            <a:xfrm>
              <a:off x="2553" y="1993"/>
              <a:ext cx="709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0" name="Rectangle 36"/>
            <p:cNvSpPr>
              <a:spLocks noChangeArrowheads="1"/>
            </p:cNvSpPr>
            <p:nvPr/>
          </p:nvSpPr>
          <p:spPr bwMode="auto">
            <a:xfrm>
              <a:off x="2528" y="2007"/>
              <a:ext cx="47" cy="45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1" name="Oval 37"/>
            <p:cNvSpPr>
              <a:spLocks noChangeArrowheads="1"/>
            </p:cNvSpPr>
            <p:nvPr/>
          </p:nvSpPr>
          <p:spPr bwMode="auto">
            <a:xfrm>
              <a:off x="1916" y="1649"/>
              <a:ext cx="134" cy="1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3525"/>
            <a:ext cx="7772400" cy="1143000"/>
          </a:xfrm>
        </p:spPr>
        <p:txBody>
          <a:bodyPr/>
          <a:lstStyle/>
          <a:p>
            <a:r>
              <a:rPr lang="en-US" altLang="zh-CN">
                <a:solidFill>
                  <a:schemeClr val="tx1"/>
                </a:solidFill>
                <a:latin typeface="Arial" charset="0"/>
              </a:rPr>
              <a:t>Control of Traffic Lights</a:t>
            </a:r>
            <a:endParaRPr lang="en-US" altLang="zh-CN">
              <a:latin typeface="Arial" charset="0"/>
            </a:endParaRPr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666750" y="4418013"/>
          <a:ext cx="231775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Clip" r:id="rId3" imgW="5249520" imgH="4114440" progId="MS_ClipArt_Gallery.2">
                  <p:embed/>
                </p:oleObj>
              </mc:Choice>
              <mc:Fallback>
                <p:oleObj name="Clip" r:id="rId3" imgW="5249520" imgH="4114440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4418013"/>
                        <a:ext cx="231775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3879850" y="1855788"/>
            <a:ext cx="1401763" cy="4467225"/>
            <a:chOff x="2444" y="1169"/>
            <a:chExt cx="883" cy="2814"/>
          </a:xfrm>
        </p:grpSpPr>
        <p:graphicFrame>
          <p:nvGraphicFramePr>
            <p:cNvPr id="5125" name="Object 5"/>
            <p:cNvGraphicFramePr>
              <a:graphicFrameLocks noChangeAspect="1"/>
            </p:cNvGraphicFramePr>
            <p:nvPr/>
          </p:nvGraphicFramePr>
          <p:xfrm>
            <a:off x="2503" y="1169"/>
            <a:ext cx="793" cy="1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" name="剪辑" r:id="rId5" imgW="1776240" imgH="3169800" progId="MS_ClipArt_Gallery.2">
                    <p:embed/>
                  </p:oleObj>
                </mc:Choice>
                <mc:Fallback>
                  <p:oleObj name="剪辑" r:id="rId5" imgW="1776240" imgH="3169800" progId="MS_ClipArt_Gallery.2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3" y="1169"/>
                          <a:ext cx="793" cy="141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952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782" y="2576"/>
              <a:ext cx="240" cy="13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444" y="3929"/>
              <a:ext cx="883" cy="5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6049963" y="4387850"/>
          <a:ext cx="1911350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剪辑" r:id="rId7" imgW="1281600" imgH="1258920" progId="MS_ClipArt_Gallery.2">
                  <p:embed/>
                </p:oleObj>
              </mc:Choice>
              <mc:Fallback>
                <p:oleObj name="剪辑" r:id="rId7" imgW="1281600" imgH="1258920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4387850"/>
                        <a:ext cx="1911350" cy="187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433388" y="2224088"/>
          <a:ext cx="244792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Clip" r:id="rId9" imgW="2238840" imgH="1209240" progId="MS_ClipArt_Gallery.2">
                  <p:embed/>
                </p:oleObj>
              </mc:Choice>
              <mc:Fallback>
                <p:oleObj name="Clip" r:id="rId9" imgW="2238840" imgH="1209240" progId="MS_ClipArt_Gallery.2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8" y="2224088"/>
                        <a:ext cx="2447925" cy="132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6102350" y="2049463"/>
          <a:ext cx="1765300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剪辑" r:id="rId11" imgW="2826720" imgH="4563720" progId="MS_ClipArt_Gallery.2">
                  <p:embed/>
                </p:oleObj>
              </mc:Choice>
              <mc:Fallback>
                <p:oleObj name="剪辑" r:id="rId11" imgW="2826720" imgH="4563720" progId="MS_ClipArt_Gallery.2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2049463"/>
                        <a:ext cx="1765300" cy="204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16</Words>
  <Application>Microsoft Office PowerPoint</Application>
  <PresentationFormat>全屏显示(4:3)</PresentationFormat>
  <Paragraphs>8</Paragraphs>
  <Slides>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默认设计模板</vt:lpstr>
      <vt:lpstr>Clip</vt:lpstr>
      <vt:lpstr>剪辑</vt:lpstr>
      <vt:lpstr>MODULE 1</vt:lpstr>
      <vt:lpstr>Open-loop Control</vt:lpstr>
      <vt:lpstr>Control of Traffic Lights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Zhang</dc:creator>
  <cp:lastModifiedBy>YlmF</cp:lastModifiedBy>
  <cp:revision>11</cp:revision>
  <dcterms:created xsi:type="dcterms:W3CDTF">2001-11-24T14:19:56Z</dcterms:created>
  <dcterms:modified xsi:type="dcterms:W3CDTF">2013-08-27T08:21:53Z</dcterms:modified>
</cp:coreProperties>
</file>