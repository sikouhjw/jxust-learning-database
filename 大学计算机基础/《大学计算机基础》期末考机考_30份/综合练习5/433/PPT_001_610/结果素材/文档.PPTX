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notesMasterIdLst>
    <p:notesMasterId r:id="rId5"/>
  </p:notesMasterIdLst>
  <p:sldIdLst>
    <p:sldId id="261" r:id="rId2"/>
    <p:sldId id="257" r:id="rId3"/>
    <p:sldId id="260" r:id="rId4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E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72" autoAdjust="0"/>
    <p:restoredTop sz="94660"/>
  </p:normalViewPr>
  <p:slideViewPr>
    <p:cSldViewPr>
      <p:cViewPr>
        <p:scale>
          <a:sx n="60" d="100"/>
          <a:sy n="60" d="100"/>
        </p:scale>
        <p:origin x="-1500" y="-3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B925DD-5687-411E-AB4D-988BF3377F43}" type="datetimeFigureOut">
              <a:rPr lang="zh-CN" altLang="en-US" smtClean="0"/>
              <a:t>2013-9-3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79FD82-6BB5-4ECF-93A6-5036E0FB44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51182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618" name="Group 2"/>
          <p:cNvGrpSpPr>
            <a:grpSpLocks/>
          </p:cNvGrpSpPr>
          <p:nvPr/>
        </p:nvGrpSpPr>
        <p:grpSpPr bwMode="auto">
          <a:xfrm>
            <a:off x="0" y="6350"/>
            <a:ext cx="9140825" cy="6851650"/>
            <a:chOff x="0" y="4"/>
            <a:chExt cx="5758" cy="4316"/>
          </a:xfrm>
        </p:grpSpPr>
        <p:grpSp>
          <p:nvGrpSpPr>
            <p:cNvPr id="111619" name="Group 3"/>
            <p:cNvGrpSpPr>
              <a:grpSpLocks/>
            </p:cNvGrpSpPr>
            <p:nvPr/>
          </p:nvGrpSpPr>
          <p:grpSpPr bwMode="auto">
            <a:xfrm>
              <a:off x="0" y="1161"/>
              <a:ext cx="5758" cy="3159"/>
              <a:chOff x="0" y="1161"/>
              <a:chExt cx="5758" cy="3159"/>
            </a:xfrm>
          </p:grpSpPr>
          <p:sp>
            <p:nvSpPr>
              <p:cNvPr id="111620" name="Freeform 4"/>
              <p:cNvSpPr>
                <a:spLocks/>
              </p:cNvSpPr>
              <p:nvPr/>
            </p:nvSpPr>
            <p:spPr bwMode="hidden">
              <a:xfrm>
                <a:off x="558" y="1161"/>
                <a:ext cx="5200" cy="3159"/>
              </a:xfrm>
              <a:custGeom>
                <a:avLst/>
                <a:gdLst>
                  <a:gd name="T0" fmla="*/ 0 w 5184"/>
                  <a:gd name="T1" fmla="*/ 3159 h 3159"/>
                  <a:gd name="T2" fmla="*/ 5184 w 5184"/>
                  <a:gd name="T3" fmla="*/ 3159 h 3159"/>
                  <a:gd name="T4" fmla="*/ 5184 w 5184"/>
                  <a:gd name="T5" fmla="*/ 0 h 3159"/>
                  <a:gd name="T6" fmla="*/ 0 w 5184"/>
                  <a:gd name="T7" fmla="*/ 0 h 3159"/>
                  <a:gd name="T8" fmla="*/ 0 w 5184"/>
                  <a:gd name="T9" fmla="*/ 3159 h 3159"/>
                  <a:gd name="T10" fmla="*/ 0 w 5184"/>
                  <a:gd name="T11" fmla="*/ 3159 h 3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184" h="3159">
                    <a:moveTo>
                      <a:pt x="0" y="3159"/>
                    </a:moveTo>
                    <a:lnTo>
                      <a:pt x="5184" y="3159"/>
                    </a:lnTo>
                    <a:lnTo>
                      <a:pt x="5184" y="0"/>
                    </a:lnTo>
                    <a:lnTo>
                      <a:pt x="0" y="0"/>
                    </a:lnTo>
                    <a:lnTo>
                      <a:pt x="0" y="3159"/>
                    </a:lnTo>
                    <a:lnTo>
                      <a:pt x="0" y="3159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621" name="Freeform 5"/>
              <p:cNvSpPr>
                <a:spLocks/>
              </p:cNvSpPr>
              <p:nvPr/>
            </p:nvSpPr>
            <p:spPr bwMode="hidden">
              <a:xfrm>
                <a:off x="0" y="1161"/>
                <a:ext cx="558" cy="3159"/>
              </a:xfrm>
              <a:custGeom>
                <a:avLst/>
                <a:gdLst>
                  <a:gd name="T0" fmla="*/ 0 w 556"/>
                  <a:gd name="T1" fmla="*/ 0 h 3159"/>
                  <a:gd name="T2" fmla="*/ 0 w 556"/>
                  <a:gd name="T3" fmla="*/ 3159 h 3159"/>
                  <a:gd name="T4" fmla="*/ 556 w 556"/>
                  <a:gd name="T5" fmla="*/ 3159 h 3159"/>
                  <a:gd name="T6" fmla="*/ 556 w 556"/>
                  <a:gd name="T7" fmla="*/ 0 h 3159"/>
                  <a:gd name="T8" fmla="*/ 0 w 556"/>
                  <a:gd name="T9" fmla="*/ 0 h 3159"/>
                  <a:gd name="T10" fmla="*/ 0 w 556"/>
                  <a:gd name="T11" fmla="*/ 0 h 3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56" h="3159">
                    <a:moveTo>
                      <a:pt x="0" y="0"/>
                    </a:moveTo>
                    <a:lnTo>
                      <a:pt x="0" y="3159"/>
                    </a:lnTo>
                    <a:lnTo>
                      <a:pt x="556" y="3159"/>
                    </a:lnTo>
                    <a:lnTo>
                      <a:pt x="556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11622" name="Freeform 6"/>
            <p:cNvSpPr>
              <a:spLocks/>
            </p:cNvSpPr>
            <p:nvPr/>
          </p:nvSpPr>
          <p:spPr bwMode="ltGray">
            <a:xfrm>
              <a:off x="552" y="951"/>
              <a:ext cx="12" cy="420"/>
            </a:xfrm>
            <a:custGeom>
              <a:avLst/>
              <a:gdLst>
                <a:gd name="T0" fmla="*/ 0 w 12"/>
                <a:gd name="T1" fmla="*/ 0 h 420"/>
                <a:gd name="T2" fmla="*/ 0 w 12"/>
                <a:gd name="T3" fmla="*/ 420 h 420"/>
                <a:gd name="T4" fmla="*/ 12 w 12"/>
                <a:gd name="T5" fmla="*/ 420 h 420"/>
                <a:gd name="T6" fmla="*/ 12 w 12"/>
                <a:gd name="T7" fmla="*/ 0 h 420"/>
                <a:gd name="T8" fmla="*/ 0 w 12"/>
                <a:gd name="T9" fmla="*/ 0 h 420"/>
                <a:gd name="T10" fmla="*/ 0 w 12"/>
                <a:gd name="T11" fmla="*/ 0 h 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" h="420">
                  <a:moveTo>
                    <a:pt x="0" y="0"/>
                  </a:moveTo>
                  <a:lnTo>
                    <a:pt x="0" y="420"/>
                  </a:lnTo>
                  <a:lnTo>
                    <a:pt x="12" y="42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50000">
                  <a:schemeClr val="hlink"/>
                </a:gs>
                <a:gs pos="100000">
                  <a:schemeClr val="accent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1623" name="Freeform 7"/>
            <p:cNvSpPr>
              <a:spLocks/>
            </p:cNvSpPr>
            <p:nvPr/>
          </p:nvSpPr>
          <p:spPr bwMode="ltGray">
            <a:xfrm>
              <a:off x="767" y="1155"/>
              <a:ext cx="252" cy="12"/>
            </a:xfrm>
            <a:custGeom>
              <a:avLst/>
              <a:gdLst>
                <a:gd name="T0" fmla="*/ 251 w 251"/>
                <a:gd name="T1" fmla="*/ 0 h 12"/>
                <a:gd name="T2" fmla="*/ 0 w 251"/>
                <a:gd name="T3" fmla="*/ 0 h 12"/>
                <a:gd name="T4" fmla="*/ 0 w 251"/>
                <a:gd name="T5" fmla="*/ 12 h 12"/>
                <a:gd name="T6" fmla="*/ 251 w 251"/>
                <a:gd name="T7" fmla="*/ 12 h 12"/>
                <a:gd name="T8" fmla="*/ 251 w 251"/>
                <a:gd name="T9" fmla="*/ 0 h 12"/>
                <a:gd name="T10" fmla="*/ 251 w 251"/>
                <a:gd name="T11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" h="12">
                  <a:moveTo>
                    <a:pt x="251" y="0"/>
                  </a:moveTo>
                  <a:lnTo>
                    <a:pt x="0" y="0"/>
                  </a:lnTo>
                  <a:lnTo>
                    <a:pt x="0" y="12"/>
                  </a:lnTo>
                  <a:lnTo>
                    <a:pt x="251" y="12"/>
                  </a:lnTo>
                  <a:lnTo>
                    <a:pt x="251" y="0"/>
                  </a:lnTo>
                  <a:lnTo>
                    <a:pt x="251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1624" name="Freeform 8"/>
            <p:cNvSpPr>
              <a:spLocks/>
            </p:cNvSpPr>
            <p:nvPr/>
          </p:nvSpPr>
          <p:spPr bwMode="ltGray">
            <a:xfrm>
              <a:off x="0" y="1155"/>
              <a:ext cx="351" cy="12"/>
            </a:xfrm>
            <a:custGeom>
              <a:avLst/>
              <a:gdLst>
                <a:gd name="T0" fmla="*/ 0 w 251"/>
                <a:gd name="T1" fmla="*/ 0 h 12"/>
                <a:gd name="T2" fmla="*/ 0 w 251"/>
                <a:gd name="T3" fmla="*/ 12 h 12"/>
                <a:gd name="T4" fmla="*/ 251 w 251"/>
                <a:gd name="T5" fmla="*/ 12 h 12"/>
                <a:gd name="T6" fmla="*/ 251 w 251"/>
                <a:gd name="T7" fmla="*/ 0 h 12"/>
                <a:gd name="T8" fmla="*/ 0 w 251"/>
                <a:gd name="T9" fmla="*/ 0 h 12"/>
                <a:gd name="T10" fmla="*/ 0 w 251"/>
                <a:gd name="T11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" h="12">
                  <a:moveTo>
                    <a:pt x="0" y="0"/>
                  </a:moveTo>
                  <a:lnTo>
                    <a:pt x="0" y="12"/>
                  </a:lnTo>
                  <a:lnTo>
                    <a:pt x="251" y="12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11625" name="Group 9"/>
            <p:cNvGrpSpPr>
              <a:grpSpLocks/>
            </p:cNvGrpSpPr>
            <p:nvPr/>
          </p:nvGrpSpPr>
          <p:grpSpPr bwMode="auto">
            <a:xfrm>
              <a:off x="348" y="4"/>
              <a:ext cx="5410" cy="4316"/>
              <a:chOff x="348" y="4"/>
              <a:chExt cx="5410" cy="4316"/>
            </a:xfrm>
          </p:grpSpPr>
          <p:sp>
            <p:nvSpPr>
              <p:cNvPr id="111626" name="Freeform 10"/>
              <p:cNvSpPr>
                <a:spLocks/>
              </p:cNvSpPr>
              <p:nvPr/>
            </p:nvSpPr>
            <p:spPr bwMode="ltGray">
              <a:xfrm>
                <a:off x="552" y="4"/>
                <a:ext cx="12" cy="695"/>
              </a:xfrm>
              <a:custGeom>
                <a:avLst/>
                <a:gdLst>
                  <a:gd name="T0" fmla="*/ 12 w 12"/>
                  <a:gd name="T1" fmla="*/ 0 h 695"/>
                  <a:gd name="T2" fmla="*/ 0 w 12"/>
                  <a:gd name="T3" fmla="*/ 0 h 695"/>
                  <a:gd name="T4" fmla="*/ 0 w 12"/>
                  <a:gd name="T5" fmla="*/ 695 h 695"/>
                  <a:gd name="T6" fmla="*/ 12 w 12"/>
                  <a:gd name="T7" fmla="*/ 695 h 695"/>
                  <a:gd name="T8" fmla="*/ 12 w 12"/>
                  <a:gd name="T9" fmla="*/ 0 h 695"/>
                  <a:gd name="T10" fmla="*/ 12 w 12"/>
                  <a:gd name="T11" fmla="*/ 0 h 6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695">
                    <a:moveTo>
                      <a:pt x="12" y="0"/>
                    </a:moveTo>
                    <a:lnTo>
                      <a:pt x="0" y="0"/>
                    </a:lnTo>
                    <a:lnTo>
                      <a:pt x="0" y="695"/>
                    </a:lnTo>
                    <a:lnTo>
                      <a:pt x="12" y="695"/>
                    </a:lnTo>
                    <a:lnTo>
                      <a:pt x="12" y="0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627" name="Freeform 11"/>
              <p:cNvSpPr>
                <a:spLocks/>
              </p:cNvSpPr>
              <p:nvPr/>
            </p:nvSpPr>
            <p:spPr bwMode="ltGray">
              <a:xfrm>
                <a:off x="552" y="1623"/>
                <a:ext cx="12" cy="2697"/>
              </a:xfrm>
              <a:custGeom>
                <a:avLst/>
                <a:gdLst>
                  <a:gd name="T0" fmla="*/ 0 w 12"/>
                  <a:gd name="T1" fmla="*/ 2697 h 2697"/>
                  <a:gd name="T2" fmla="*/ 12 w 12"/>
                  <a:gd name="T3" fmla="*/ 2697 h 2697"/>
                  <a:gd name="T4" fmla="*/ 12 w 12"/>
                  <a:gd name="T5" fmla="*/ 0 h 2697"/>
                  <a:gd name="T6" fmla="*/ 0 w 12"/>
                  <a:gd name="T7" fmla="*/ 0 h 2697"/>
                  <a:gd name="T8" fmla="*/ 0 w 12"/>
                  <a:gd name="T9" fmla="*/ 2697 h 2697"/>
                  <a:gd name="T10" fmla="*/ 0 w 12"/>
                  <a:gd name="T11" fmla="*/ 2697 h 26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2697">
                    <a:moveTo>
                      <a:pt x="0" y="2697"/>
                    </a:moveTo>
                    <a:lnTo>
                      <a:pt x="12" y="2697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2697"/>
                    </a:lnTo>
                    <a:lnTo>
                      <a:pt x="0" y="2697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628" name="Freeform 12"/>
              <p:cNvSpPr>
                <a:spLocks/>
              </p:cNvSpPr>
              <p:nvPr/>
            </p:nvSpPr>
            <p:spPr bwMode="ltGray">
              <a:xfrm>
                <a:off x="1019" y="1155"/>
                <a:ext cx="4739" cy="12"/>
              </a:xfrm>
              <a:custGeom>
                <a:avLst/>
                <a:gdLst>
                  <a:gd name="T0" fmla="*/ 4724 w 4724"/>
                  <a:gd name="T1" fmla="*/ 0 h 12"/>
                  <a:gd name="T2" fmla="*/ 0 w 4724"/>
                  <a:gd name="T3" fmla="*/ 0 h 12"/>
                  <a:gd name="T4" fmla="*/ 0 w 4724"/>
                  <a:gd name="T5" fmla="*/ 12 h 12"/>
                  <a:gd name="T6" fmla="*/ 4724 w 4724"/>
                  <a:gd name="T7" fmla="*/ 12 h 12"/>
                  <a:gd name="T8" fmla="*/ 4724 w 4724"/>
                  <a:gd name="T9" fmla="*/ 0 h 12"/>
                  <a:gd name="T10" fmla="*/ 4724 w 4724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724" h="12">
                    <a:moveTo>
                      <a:pt x="4724" y="0"/>
                    </a:moveTo>
                    <a:lnTo>
                      <a:pt x="0" y="0"/>
                    </a:lnTo>
                    <a:lnTo>
                      <a:pt x="0" y="12"/>
                    </a:lnTo>
                    <a:lnTo>
                      <a:pt x="4724" y="12"/>
                    </a:lnTo>
                    <a:lnTo>
                      <a:pt x="4724" y="0"/>
                    </a:lnTo>
                    <a:lnTo>
                      <a:pt x="47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629" name="Freeform 13"/>
              <p:cNvSpPr>
                <a:spLocks/>
              </p:cNvSpPr>
              <p:nvPr/>
            </p:nvSpPr>
            <p:spPr bwMode="ltGray">
              <a:xfrm>
                <a:off x="552" y="1371"/>
                <a:ext cx="12" cy="252"/>
              </a:xfrm>
              <a:custGeom>
                <a:avLst/>
                <a:gdLst>
                  <a:gd name="T0" fmla="*/ 0 w 12"/>
                  <a:gd name="T1" fmla="*/ 252 h 252"/>
                  <a:gd name="T2" fmla="*/ 12 w 12"/>
                  <a:gd name="T3" fmla="*/ 252 h 252"/>
                  <a:gd name="T4" fmla="*/ 12 w 12"/>
                  <a:gd name="T5" fmla="*/ 0 h 252"/>
                  <a:gd name="T6" fmla="*/ 0 w 12"/>
                  <a:gd name="T7" fmla="*/ 0 h 252"/>
                  <a:gd name="T8" fmla="*/ 0 w 12"/>
                  <a:gd name="T9" fmla="*/ 252 h 252"/>
                  <a:gd name="T10" fmla="*/ 0 w 12"/>
                  <a:gd name="T11" fmla="*/ 252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252">
                    <a:moveTo>
                      <a:pt x="0" y="252"/>
                    </a:moveTo>
                    <a:lnTo>
                      <a:pt x="12" y="252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252"/>
                    </a:lnTo>
                    <a:lnTo>
                      <a:pt x="0" y="25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630" name="Freeform 14"/>
              <p:cNvSpPr>
                <a:spLocks/>
              </p:cNvSpPr>
              <p:nvPr/>
            </p:nvSpPr>
            <p:spPr bwMode="ltGray">
              <a:xfrm>
                <a:off x="552" y="699"/>
                <a:ext cx="12" cy="252"/>
              </a:xfrm>
              <a:custGeom>
                <a:avLst/>
                <a:gdLst>
                  <a:gd name="T0" fmla="*/ 12 w 12"/>
                  <a:gd name="T1" fmla="*/ 0 h 252"/>
                  <a:gd name="T2" fmla="*/ 0 w 12"/>
                  <a:gd name="T3" fmla="*/ 0 h 252"/>
                  <a:gd name="T4" fmla="*/ 0 w 12"/>
                  <a:gd name="T5" fmla="*/ 252 h 252"/>
                  <a:gd name="T6" fmla="*/ 12 w 12"/>
                  <a:gd name="T7" fmla="*/ 252 h 252"/>
                  <a:gd name="T8" fmla="*/ 12 w 12"/>
                  <a:gd name="T9" fmla="*/ 0 h 252"/>
                  <a:gd name="T10" fmla="*/ 12 w 12"/>
                  <a:gd name="T11" fmla="*/ 0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252">
                    <a:moveTo>
                      <a:pt x="12" y="0"/>
                    </a:moveTo>
                    <a:lnTo>
                      <a:pt x="0" y="0"/>
                    </a:lnTo>
                    <a:lnTo>
                      <a:pt x="0" y="252"/>
                    </a:lnTo>
                    <a:lnTo>
                      <a:pt x="12" y="252"/>
                    </a:lnTo>
                    <a:lnTo>
                      <a:pt x="12" y="0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631" name="Freeform 15"/>
              <p:cNvSpPr>
                <a:spLocks/>
              </p:cNvSpPr>
              <p:nvPr/>
            </p:nvSpPr>
            <p:spPr bwMode="ltGray">
              <a:xfrm>
                <a:off x="348" y="1155"/>
                <a:ext cx="419" cy="12"/>
              </a:xfrm>
              <a:custGeom>
                <a:avLst/>
                <a:gdLst>
                  <a:gd name="T0" fmla="*/ 0 w 418"/>
                  <a:gd name="T1" fmla="*/ 0 h 12"/>
                  <a:gd name="T2" fmla="*/ 0 w 418"/>
                  <a:gd name="T3" fmla="*/ 12 h 12"/>
                  <a:gd name="T4" fmla="*/ 418 w 418"/>
                  <a:gd name="T5" fmla="*/ 12 h 12"/>
                  <a:gd name="T6" fmla="*/ 418 w 418"/>
                  <a:gd name="T7" fmla="*/ 0 h 12"/>
                  <a:gd name="T8" fmla="*/ 0 w 418"/>
                  <a:gd name="T9" fmla="*/ 0 h 12"/>
                  <a:gd name="T10" fmla="*/ 0 w 418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8" h="12">
                    <a:moveTo>
                      <a:pt x="0" y="0"/>
                    </a:moveTo>
                    <a:lnTo>
                      <a:pt x="0" y="12"/>
                    </a:lnTo>
                    <a:lnTo>
                      <a:pt x="418" y="12"/>
                    </a:lnTo>
                    <a:lnTo>
                      <a:pt x="418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50000">
                    <a:schemeClr val="hlink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111632" name="Rectangle 16"/>
          <p:cNvSpPr>
            <a:spLocks noGrp="1" noChangeArrowheads="1"/>
          </p:cNvSpPr>
          <p:nvPr>
            <p:ph type="ctrTitle" sz="quarter"/>
          </p:nvPr>
        </p:nvSpPr>
        <p:spPr>
          <a:xfrm>
            <a:off x="1066800" y="1997075"/>
            <a:ext cx="7086600" cy="1431925"/>
          </a:xfrm>
        </p:spPr>
        <p:txBody>
          <a:bodyPr anchor="b"/>
          <a:lstStyle>
            <a:lvl1pPr>
              <a:defRPr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</a:p>
        </p:txBody>
      </p:sp>
      <p:sp>
        <p:nvSpPr>
          <p:cNvPr id="111633" name="Rectangle 1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066800" y="3886200"/>
            <a:ext cx="6400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</a:p>
        </p:txBody>
      </p:sp>
      <p:sp>
        <p:nvSpPr>
          <p:cNvPr id="111634" name="Rectangle 18"/>
          <p:cNvSpPr>
            <a:spLocks noGrp="1" noChangeArrowheads="1"/>
          </p:cNvSpPr>
          <p:nvPr>
            <p:ph type="dt" sz="quarter" idx="2"/>
          </p:nvPr>
        </p:nvSpPr>
        <p:spPr>
          <a:xfrm>
            <a:off x="1066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111635" name="Rectangle 19"/>
          <p:cNvSpPr>
            <a:spLocks noGrp="1" noChangeArrowheads="1"/>
          </p:cNvSpPr>
          <p:nvPr>
            <p:ph type="ftr" sz="quarter" idx="3"/>
          </p:nvPr>
        </p:nvSpPr>
        <p:spPr>
          <a:xfrm>
            <a:off x="33528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携带流感病毒动物</a:t>
            </a:r>
            <a:endParaRPr lang="en-US" altLang="zh-CN"/>
          </a:p>
        </p:txBody>
      </p:sp>
      <p:sp>
        <p:nvSpPr>
          <p:cNvPr id="111636" name="Rectangle 20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320A8BCF-C745-4EAD-8AF1-C5EA31D854EA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携带流感病毒动物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A7485AA-5927-4228-9E10-1DB1D285E7B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79593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携带流感病毒动物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815966-3145-4DD2-A3E3-C72DF5F8817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64284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066800" y="1981200"/>
            <a:ext cx="36957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14900" y="1981200"/>
            <a:ext cx="36957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携带流感病毒动物</a:t>
            </a: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F9A4B0-A8D4-47E3-9327-14B43841585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34679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携带流感病毒动物</a:t>
            </a:r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8025B5-6608-4087-8CD9-E469B094F30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08812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携带流感病毒动物</a:t>
            </a: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8F0357F-7EC7-49C2-8878-BADDD03D992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68939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携带流感病毒动物</a:t>
            </a: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7E402BE-ADC0-458E-AB4C-F9CD27E9DC9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64146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携带流感病毒动物</a:t>
            </a: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2F926B7-30A9-4F03-847D-4ECC6B8A82B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49743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携带流感病毒动物</a:t>
            </a: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2B6733-4319-4F91-8355-E064F262DB1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07833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携带流感病毒动物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1A76EF-8CF7-4264-9461-9F6B6D18426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04260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24650" y="304800"/>
            <a:ext cx="1885950" cy="57912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066800" y="304800"/>
            <a:ext cx="5505450" cy="57912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携带流感病毒动物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B46E9FF-5D75-4376-84BA-55AE5A6B95C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46690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594" name="Group 2"/>
          <p:cNvGrpSpPr>
            <a:grpSpLocks/>
          </p:cNvGrpSpPr>
          <p:nvPr/>
        </p:nvGrpSpPr>
        <p:grpSpPr bwMode="auto">
          <a:xfrm>
            <a:off x="0" y="6350"/>
            <a:ext cx="9140825" cy="6851650"/>
            <a:chOff x="0" y="4"/>
            <a:chExt cx="5758" cy="4316"/>
          </a:xfrm>
        </p:grpSpPr>
        <p:sp>
          <p:nvSpPr>
            <p:cNvPr id="110595" name="Freeform 3"/>
            <p:cNvSpPr>
              <a:spLocks/>
            </p:cNvSpPr>
            <p:nvPr/>
          </p:nvSpPr>
          <p:spPr bwMode="hidden">
            <a:xfrm>
              <a:off x="558" y="1161"/>
              <a:ext cx="5200" cy="3159"/>
            </a:xfrm>
            <a:custGeom>
              <a:avLst/>
              <a:gdLst>
                <a:gd name="T0" fmla="*/ 0 w 5184"/>
                <a:gd name="T1" fmla="*/ 3159 h 3159"/>
                <a:gd name="T2" fmla="*/ 5184 w 5184"/>
                <a:gd name="T3" fmla="*/ 3159 h 3159"/>
                <a:gd name="T4" fmla="*/ 5184 w 5184"/>
                <a:gd name="T5" fmla="*/ 0 h 3159"/>
                <a:gd name="T6" fmla="*/ 0 w 5184"/>
                <a:gd name="T7" fmla="*/ 0 h 3159"/>
                <a:gd name="T8" fmla="*/ 0 w 5184"/>
                <a:gd name="T9" fmla="*/ 3159 h 3159"/>
                <a:gd name="T10" fmla="*/ 0 w 5184"/>
                <a:gd name="T11" fmla="*/ 3159 h 3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184" h="3159">
                  <a:moveTo>
                    <a:pt x="0" y="3159"/>
                  </a:moveTo>
                  <a:lnTo>
                    <a:pt x="5184" y="3159"/>
                  </a:lnTo>
                  <a:lnTo>
                    <a:pt x="5184" y="0"/>
                  </a:lnTo>
                  <a:lnTo>
                    <a:pt x="0" y="0"/>
                  </a:lnTo>
                  <a:lnTo>
                    <a:pt x="0" y="3159"/>
                  </a:lnTo>
                  <a:lnTo>
                    <a:pt x="0" y="315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596" name="Freeform 4"/>
            <p:cNvSpPr>
              <a:spLocks/>
            </p:cNvSpPr>
            <p:nvPr/>
          </p:nvSpPr>
          <p:spPr bwMode="hidden">
            <a:xfrm>
              <a:off x="0" y="1161"/>
              <a:ext cx="558" cy="3159"/>
            </a:xfrm>
            <a:custGeom>
              <a:avLst/>
              <a:gdLst>
                <a:gd name="T0" fmla="*/ 0 w 556"/>
                <a:gd name="T1" fmla="*/ 0 h 3159"/>
                <a:gd name="T2" fmla="*/ 0 w 556"/>
                <a:gd name="T3" fmla="*/ 3159 h 3159"/>
                <a:gd name="T4" fmla="*/ 556 w 556"/>
                <a:gd name="T5" fmla="*/ 3159 h 3159"/>
                <a:gd name="T6" fmla="*/ 556 w 556"/>
                <a:gd name="T7" fmla="*/ 0 h 3159"/>
                <a:gd name="T8" fmla="*/ 0 w 556"/>
                <a:gd name="T9" fmla="*/ 0 h 3159"/>
                <a:gd name="T10" fmla="*/ 0 w 556"/>
                <a:gd name="T11" fmla="*/ 0 h 3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56" h="3159">
                  <a:moveTo>
                    <a:pt x="0" y="0"/>
                  </a:moveTo>
                  <a:lnTo>
                    <a:pt x="0" y="3159"/>
                  </a:lnTo>
                  <a:lnTo>
                    <a:pt x="556" y="3159"/>
                  </a:lnTo>
                  <a:lnTo>
                    <a:pt x="55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10597" name="Group 5"/>
            <p:cNvGrpSpPr>
              <a:grpSpLocks/>
            </p:cNvGrpSpPr>
            <p:nvPr userDrawn="1"/>
          </p:nvGrpSpPr>
          <p:grpSpPr bwMode="auto">
            <a:xfrm>
              <a:off x="0" y="4"/>
              <a:ext cx="5758" cy="4316"/>
              <a:chOff x="0" y="4"/>
              <a:chExt cx="5758" cy="4316"/>
            </a:xfrm>
          </p:grpSpPr>
          <p:sp>
            <p:nvSpPr>
              <p:cNvPr id="110598" name="Freeform 6"/>
              <p:cNvSpPr>
                <a:spLocks/>
              </p:cNvSpPr>
              <p:nvPr/>
            </p:nvSpPr>
            <p:spPr bwMode="ltGray">
              <a:xfrm>
                <a:off x="552" y="4"/>
                <a:ext cx="12" cy="695"/>
              </a:xfrm>
              <a:custGeom>
                <a:avLst/>
                <a:gdLst>
                  <a:gd name="T0" fmla="*/ 12 w 12"/>
                  <a:gd name="T1" fmla="*/ 0 h 695"/>
                  <a:gd name="T2" fmla="*/ 0 w 12"/>
                  <a:gd name="T3" fmla="*/ 0 h 695"/>
                  <a:gd name="T4" fmla="*/ 0 w 12"/>
                  <a:gd name="T5" fmla="*/ 695 h 695"/>
                  <a:gd name="T6" fmla="*/ 12 w 12"/>
                  <a:gd name="T7" fmla="*/ 695 h 695"/>
                  <a:gd name="T8" fmla="*/ 12 w 12"/>
                  <a:gd name="T9" fmla="*/ 0 h 695"/>
                  <a:gd name="T10" fmla="*/ 12 w 12"/>
                  <a:gd name="T11" fmla="*/ 0 h 6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695">
                    <a:moveTo>
                      <a:pt x="12" y="0"/>
                    </a:moveTo>
                    <a:lnTo>
                      <a:pt x="0" y="0"/>
                    </a:lnTo>
                    <a:lnTo>
                      <a:pt x="0" y="695"/>
                    </a:lnTo>
                    <a:lnTo>
                      <a:pt x="12" y="695"/>
                    </a:lnTo>
                    <a:lnTo>
                      <a:pt x="12" y="0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599" name="Freeform 7"/>
              <p:cNvSpPr>
                <a:spLocks/>
              </p:cNvSpPr>
              <p:nvPr/>
            </p:nvSpPr>
            <p:spPr bwMode="ltGray">
              <a:xfrm>
                <a:off x="552" y="1623"/>
                <a:ext cx="12" cy="2697"/>
              </a:xfrm>
              <a:custGeom>
                <a:avLst/>
                <a:gdLst>
                  <a:gd name="T0" fmla="*/ 0 w 12"/>
                  <a:gd name="T1" fmla="*/ 2697 h 2697"/>
                  <a:gd name="T2" fmla="*/ 12 w 12"/>
                  <a:gd name="T3" fmla="*/ 2697 h 2697"/>
                  <a:gd name="T4" fmla="*/ 12 w 12"/>
                  <a:gd name="T5" fmla="*/ 0 h 2697"/>
                  <a:gd name="T6" fmla="*/ 0 w 12"/>
                  <a:gd name="T7" fmla="*/ 0 h 2697"/>
                  <a:gd name="T8" fmla="*/ 0 w 12"/>
                  <a:gd name="T9" fmla="*/ 2697 h 2697"/>
                  <a:gd name="T10" fmla="*/ 0 w 12"/>
                  <a:gd name="T11" fmla="*/ 2697 h 26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2697">
                    <a:moveTo>
                      <a:pt x="0" y="2697"/>
                    </a:moveTo>
                    <a:lnTo>
                      <a:pt x="12" y="2697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2697"/>
                    </a:lnTo>
                    <a:lnTo>
                      <a:pt x="0" y="2697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600" name="Freeform 8"/>
              <p:cNvSpPr>
                <a:spLocks/>
              </p:cNvSpPr>
              <p:nvPr/>
            </p:nvSpPr>
            <p:spPr bwMode="ltGray">
              <a:xfrm>
                <a:off x="1019" y="1155"/>
                <a:ext cx="4739" cy="12"/>
              </a:xfrm>
              <a:custGeom>
                <a:avLst/>
                <a:gdLst>
                  <a:gd name="T0" fmla="*/ 4724 w 4724"/>
                  <a:gd name="T1" fmla="*/ 0 h 12"/>
                  <a:gd name="T2" fmla="*/ 0 w 4724"/>
                  <a:gd name="T3" fmla="*/ 0 h 12"/>
                  <a:gd name="T4" fmla="*/ 0 w 4724"/>
                  <a:gd name="T5" fmla="*/ 12 h 12"/>
                  <a:gd name="T6" fmla="*/ 4724 w 4724"/>
                  <a:gd name="T7" fmla="*/ 12 h 12"/>
                  <a:gd name="T8" fmla="*/ 4724 w 4724"/>
                  <a:gd name="T9" fmla="*/ 0 h 12"/>
                  <a:gd name="T10" fmla="*/ 4724 w 4724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724" h="12">
                    <a:moveTo>
                      <a:pt x="4724" y="0"/>
                    </a:moveTo>
                    <a:lnTo>
                      <a:pt x="0" y="0"/>
                    </a:lnTo>
                    <a:lnTo>
                      <a:pt x="0" y="12"/>
                    </a:lnTo>
                    <a:lnTo>
                      <a:pt x="4724" y="12"/>
                    </a:lnTo>
                    <a:lnTo>
                      <a:pt x="4724" y="0"/>
                    </a:lnTo>
                    <a:lnTo>
                      <a:pt x="47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601" name="Freeform 9"/>
              <p:cNvSpPr>
                <a:spLocks/>
              </p:cNvSpPr>
              <p:nvPr/>
            </p:nvSpPr>
            <p:spPr bwMode="ltGray">
              <a:xfrm>
                <a:off x="552" y="1371"/>
                <a:ext cx="12" cy="252"/>
              </a:xfrm>
              <a:custGeom>
                <a:avLst/>
                <a:gdLst>
                  <a:gd name="T0" fmla="*/ 0 w 12"/>
                  <a:gd name="T1" fmla="*/ 252 h 252"/>
                  <a:gd name="T2" fmla="*/ 12 w 12"/>
                  <a:gd name="T3" fmla="*/ 252 h 252"/>
                  <a:gd name="T4" fmla="*/ 12 w 12"/>
                  <a:gd name="T5" fmla="*/ 0 h 252"/>
                  <a:gd name="T6" fmla="*/ 0 w 12"/>
                  <a:gd name="T7" fmla="*/ 0 h 252"/>
                  <a:gd name="T8" fmla="*/ 0 w 12"/>
                  <a:gd name="T9" fmla="*/ 252 h 252"/>
                  <a:gd name="T10" fmla="*/ 0 w 12"/>
                  <a:gd name="T11" fmla="*/ 252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252">
                    <a:moveTo>
                      <a:pt x="0" y="252"/>
                    </a:moveTo>
                    <a:lnTo>
                      <a:pt x="12" y="252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252"/>
                    </a:lnTo>
                    <a:lnTo>
                      <a:pt x="0" y="25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602" name="Freeform 10"/>
              <p:cNvSpPr>
                <a:spLocks/>
              </p:cNvSpPr>
              <p:nvPr/>
            </p:nvSpPr>
            <p:spPr bwMode="ltGray">
              <a:xfrm>
                <a:off x="552" y="699"/>
                <a:ext cx="12" cy="252"/>
              </a:xfrm>
              <a:custGeom>
                <a:avLst/>
                <a:gdLst>
                  <a:gd name="T0" fmla="*/ 12 w 12"/>
                  <a:gd name="T1" fmla="*/ 0 h 252"/>
                  <a:gd name="T2" fmla="*/ 0 w 12"/>
                  <a:gd name="T3" fmla="*/ 0 h 252"/>
                  <a:gd name="T4" fmla="*/ 0 w 12"/>
                  <a:gd name="T5" fmla="*/ 252 h 252"/>
                  <a:gd name="T6" fmla="*/ 12 w 12"/>
                  <a:gd name="T7" fmla="*/ 252 h 252"/>
                  <a:gd name="T8" fmla="*/ 12 w 12"/>
                  <a:gd name="T9" fmla="*/ 0 h 252"/>
                  <a:gd name="T10" fmla="*/ 12 w 12"/>
                  <a:gd name="T11" fmla="*/ 0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252">
                    <a:moveTo>
                      <a:pt x="12" y="0"/>
                    </a:moveTo>
                    <a:lnTo>
                      <a:pt x="0" y="0"/>
                    </a:lnTo>
                    <a:lnTo>
                      <a:pt x="0" y="252"/>
                    </a:lnTo>
                    <a:lnTo>
                      <a:pt x="12" y="252"/>
                    </a:lnTo>
                    <a:lnTo>
                      <a:pt x="12" y="0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603" name="Freeform 11"/>
              <p:cNvSpPr>
                <a:spLocks/>
              </p:cNvSpPr>
              <p:nvPr/>
            </p:nvSpPr>
            <p:spPr bwMode="ltGray">
              <a:xfrm>
                <a:off x="552" y="951"/>
                <a:ext cx="12" cy="420"/>
              </a:xfrm>
              <a:custGeom>
                <a:avLst/>
                <a:gdLst>
                  <a:gd name="T0" fmla="*/ 0 w 12"/>
                  <a:gd name="T1" fmla="*/ 0 h 420"/>
                  <a:gd name="T2" fmla="*/ 0 w 12"/>
                  <a:gd name="T3" fmla="*/ 420 h 420"/>
                  <a:gd name="T4" fmla="*/ 12 w 12"/>
                  <a:gd name="T5" fmla="*/ 420 h 420"/>
                  <a:gd name="T6" fmla="*/ 12 w 12"/>
                  <a:gd name="T7" fmla="*/ 0 h 420"/>
                  <a:gd name="T8" fmla="*/ 0 w 12"/>
                  <a:gd name="T9" fmla="*/ 0 h 420"/>
                  <a:gd name="T10" fmla="*/ 0 w 12"/>
                  <a:gd name="T11" fmla="*/ 0 h 4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420">
                    <a:moveTo>
                      <a:pt x="0" y="0"/>
                    </a:moveTo>
                    <a:lnTo>
                      <a:pt x="0" y="420"/>
                    </a:lnTo>
                    <a:lnTo>
                      <a:pt x="12" y="42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50000">
                    <a:schemeClr val="hlink"/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604" name="Freeform 12"/>
              <p:cNvSpPr>
                <a:spLocks/>
              </p:cNvSpPr>
              <p:nvPr/>
            </p:nvSpPr>
            <p:spPr bwMode="ltGray">
              <a:xfrm>
                <a:off x="0" y="1155"/>
                <a:ext cx="351" cy="12"/>
              </a:xfrm>
              <a:custGeom>
                <a:avLst/>
                <a:gdLst>
                  <a:gd name="T0" fmla="*/ 0 w 251"/>
                  <a:gd name="T1" fmla="*/ 0 h 12"/>
                  <a:gd name="T2" fmla="*/ 0 w 251"/>
                  <a:gd name="T3" fmla="*/ 12 h 12"/>
                  <a:gd name="T4" fmla="*/ 251 w 251"/>
                  <a:gd name="T5" fmla="*/ 12 h 12"/>
                  <a:gd name="T6" fmla="*/ 251 w 251"/>
                  <a:gd name="T7" fmla="*/ 0 h 12"/>
                  <a:gd name="T8" fmla="*/ 0 w 251"/>
                  <a:gd name="T9" fmla="*/ 0 h 12"/>
                  <a:gd name="T10" fmla="*/ 0 w 251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51" h="12">
                    <a:moveTo>
                      <a:pt x="0" y="0"/>
                    </a:moveTo>
                    <a:lnTo>
                      <a:pt x="0" y="12"/>
                    </a:lnTo>
                    <a:lnTo>
                      <a:pt x="251" y="12"/>
                    </a:lnTo>
                    <a:lnTo>
                      <a:pt x="251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605" name="Freeform 13"/>
              <p:cNvSpPr>
                <a:spLocks/>
              </p:cNvSpPr>
              <p:nvPr/>
            </p:nvSpPr>
            <p:spPr bwMode="ltGray">
              <a:xfrm>
                <a:off x="767" y="1155"/>
                <a:ext cx="252" cy="12"/>
              </a:xfrm>
              <a:custGeom>
                <a:avLst/>
                <a:gdLst>
                  <a:gd name="T0" fmla="*/ 251 w 251"/>
                  <a:gd name="T1" fmla="*/ 0 h 12"/>
                  <a:gd name="T2" fmla="*/ 0 w 251"/>
                  <a:gd name="T3" fmla="*/ 0 h 12"/>
                  <a:gd name="T4" fmla="*/ 0 w 251"/>
                  <a:gd name="T5" fmla="*/ 12 h 12"/>
                  <a:gd name="T6" fmla="*/ 251 w 251"/>
                  <a:gd name="T7" fmla="*/ 12 h 12"/>
                  <a:gd name="T8" fmla="*/ 251 w 251"/>
                  <a:gd name="T9" fmla="*/ 0 h 12"/>
                  <a:gd name="T10" fmla="*/ 251 w 251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51" h="12">
                    <a:moveTo>
                      <a:pt x="251" y="0"/>
                    </a:moveTo>
                    <a:lnTo>
                      <a:pt x="0" y="0"/>
                    </a:lnTo>
                    <a:lnTo>
                      <a:pt x="0" y="12"/>
                    </a:lnTo>
                    <a:lnTo>
                      <a:pt x="251" y="12"/>
                    </a:lnTo>
                    <a:lnTo>
                      <a:pt x="251" y="0"/>
                    </a:lnTo>
                    <a:lnTo>
                      <a:pt x="25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606" name="Freeform 14"/>
              <p:cNvSpPr>
                <a:spLocks/>
              </p:cNvSpPr>
              <p:nvPr/>
            </p:nvSpPr>
            <p:spPr bwMode="ltGray">
              <a:xfrm>
                <a:off x="348" y="1155"/>
                <a:ext cx="419" cy="12"/>
              </a:xfrm>
              <a:custGeom>
                <a:avLst/>
                <a:gdLst>
                  <a:gd name="T0" fmla="*/ 0 w 418"/>
                  <a:gd name="T1" fmla="*/ 0 h 12"/>
                  <a:gd name="T2" fmla="*/ 0 w 418"/>
                  <a:gd name="T3" fmla="*/ 12 h 12"/>
                  <a:gd name="T4" fmla="*/ 418 w 418"/>
                  <a:gd name="T5" fmla="*/ 12 h 12"/>
                  <a:gd name="T6" fmla="*/ 418 w 418"/>
                  <a:gd name="T7" fmla="*/ 0 h 12"/>
                  <a:gd name="T8" fmla="*/ 0 w 418"/>
                  <a:gd name="T9" fmla="*/ 0 h 12"/>
                  <a:gd name="T10" fmla="*/ 0 w 418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8" h="12">
                    <a:moveTo>
                      <a:pt x="0" y="0"/>
                    </a:moveTo>
                    <a:lnTo>
                      <a:pt x="0" y="12"/>
                    </a:lnTo>
                    <a:lnTo>
                      <a:pt x="418" y="12"/>
                    </a:lnTo>
                    <a:lnTo>
                      <a:pt x="418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50000">
                    <a:schemeClr val="hlink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110607" name="Rectangle 15"/>
          <p:cNvSpPr>
            <a:spLocks noGrp="1" noChangeArrowheads="1"/>
          </p:cNvSpPr>
          <p:nvPr>
            <p:ph type="title"/>
          </p:nvPr>
        </p:nvSpPr>
        <p:spPr bwMode="auto">
          <a:xfrm>
            <a:off x="1066800" y="304800"/>
            <a:ext cx="7543800" cy="1431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10608" name="Rectangle 1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66800" y="1981200"/>
            <a:ext cx="75438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</a:p>
        </p:txBody>
      </p:sp>
      <p:sp>
        <p:nvSpPr>
          <p:cNvPr id="110609" name="Rectangle 1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403350" y="623728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endParaRPr lang="en-US" altLang="zh-CN"/>
          </a:p>
        </p:txBody>
      </p:sp>
      <p:sp>
        <p:nvSpPr>
          <p:cNvPr id="110610" name="Rectangle 1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16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r>
              <a:rPr lang="zh-CN" altLang="en-US" dirty="0" smtClean="0"/>
              <a:t>携带流感病毒动物</a:t>
            </a:r>
            <a:endParaRPr lang="en-US" altLang="zh-CN" dirty="0"/>
          </a:p>
        </p:txBody>
      </p:sp>
      <p:sp>
        <p:nvSpPr>
          <p:cNvPr id="110611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fld id="{1FB48F21-CC1D-49F5-9F47-F5F3A59FDFD8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</p:sldLayoutIdLst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  <p:hf sldNum="0" hdr="0" dt="0"/>
  <p:txStyles>
    <p:titleStyle>
      <a:lvl1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ea typeface="宋体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ea typeface="宋体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ea typeface="宋体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r>
              <a:rPr lang="zh-CN" altLang="en-US" sz="3900" dirty="0">
                <a:solidFill>
                  <a:srgbClr val="F0E600"/>
                </a:solidFill>
                <a:latin typeface="隶书" pitchFamily="49" charset="-122"/>
                <a:ea typeface="隶书" pitchFamily="49" charset="-122"/>
              </a:rPr>
              <a:t>哪些动物将流感</a:t>
            </a:r>
            <a:r>
              <a:rPr lang="zh-CN" altLang="en-US" sz="3900" dirty="0" smtClean="0">
                <a:solidFill>
                  <a:srgbClr val="F0E600"/>
                </a:solidFill>
                <a:latin typeface="隶书" pitchFamily="49" charset="-122"/>
                <a:ea typeface="隶书" pitchFamily="49" charset="-122"/>
              </a:rPr>
              <a:t>病毒传染</a:t>
            </a:r>
            <a:r>
              <a:rPr lang="zh-CN" altLang="en-US" sz="3900" dirty="0">
                <a:solidFill>
                  <a:srgbClr val="F0E600"/>
                </a:solidFill>
                <a:latin typeface="隶书" pitchFamily="49" charset="-122"/>
                <a:ea typeface="隶书" pitchFamily="49" charset="-122"/>
              </a:rPr>
              <a:t>给人？</a:t>
            </a:r>
          </a:p>
        </p:txBody>
      </p:sp>
      <p:sp>
        <p:nvSpPr>
          <p:cNvPr id="4" name="副标题 3"/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r>
              <a:rPr lang="zh-CN" altLang="en-US" dirty="0"/>
              <a:t>携带流感病毒的动物</a:t>
            </a: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smtClean="0"/>
              <a:t>携带流感病毒动物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58432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竖排标题 2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33123" name="Rectangle 3"/>
          <p:cNvSpPr>
            <a:spLocks noGrp="1" noChangeArrowheads="1"/>
          </p:cNvSpPr>
          <p:nvPr>
            <p:ph type="body" orient="vert" idx="1"/>
          </p:nvPr>
        </p:nvSpPr>
        <p:spPr/>
        <p:txBody>
          <a:bodyPr/>
          <a:lstStyle/>
          <a:p>
            <a:r>
              <a:rPr lang="zh-CN" altLang="en-US" dirty="0"/>
              <a:t>据美国探索频道报道，源自北美的新型流感继续肆虐全球，世界卫生组织已经将警戒级别提高至第五级。流感最先于</a:t>
            </a:r>
            <a:r>
              <a:rPr lang="en-US" altLang="zh-CN" dirty="0"/>
              <a:t>1930</a:t>
            </a:r>
            <a:r>
              <a:rPr lang="zh-CN" altLang="en-US" dirty="0"/>
              <a:t>年出现在猪身上，经过几十年的演变，健康专家已经识别出了几种其它类型的流感病毒。然而，到底是哪一种动物将此类病毒传染给人的？可能是以下携带流感病毒的动物</a:t>
            </a:r>
            <a:r>
              <a:rPr lang="en-US" altLang="zh-CN" dirty="0"/>
              <a:t>: </a:t>
            </a: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携带流感病毒动物</a:t>
            </a:r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36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1100" dirty="0"/>
              <a:t>艾普尔</a:t>
            </a:r>
            <a:r>
              <a:rPr lang="en-US" altLang="zh-CN" sz="1100" dirty="0">
                <a:latin typeface="Arial"/>
              </a:rPr>
              <a:t>·</a:t>
            </a:r>
            <a:r>
              <a:rPr lang="zh-CN" altLang="en-US" sz="1100" dirty="0"/>
              <a:t>约翰逊说，</a:t>
            </a:r>
            <a:r>
              <a:rPr lang="zh-CN" altLang="en-US" sz="1100" dirty="0">
                <a:latin typeface="Arial"/>
              </a:rPr>
              <a:t>“</a:t>
            </a:r>
            <a:r>
              <a:rPr lang="zh-CN" altLang="en-US" sz="1100" dirty="0"/>
              <a:t>鸭子通常只被看成是病毒的携带者，而不是直接威胁。</a:t>
            </a:r>
            <a:r>
              <a:rPr lang="zh-CN" altLang="en-US" sz="1100" dirty="0">
                <a:latin typeface="Arial"/>
              </a:rPr>
              <a:t>”</a:t>
            </a:r>
            <a:r>
              <a:rPr lang="zh-CN" altLang="en-US" sz="1100" dirty="0"/>
              <a:t>鸭子似乎不会将流感传染给人，但它们能感染其它动物，然后传染给人</a:t>
            </a:r>
            <a:r>
              <a:rPr lang="zh-CN" altLang="en-US" sz="1100" dirty="0" smtClean="0"/>
              <a:t>。</a:t>
            </a:r>
            <a:endParaRPr lang="zh-CN" altLang="en-US" sz="2800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en-US" sz="1100" dirty="0"/>
              <a:t>在</a:t>
            </a:r>
            <a:r>
              <a:rPr lang="en-US" altLang="zh-CN" sz="1100" dirty="0"/>
              <a:t>2004</a:t>
            </a:r>
            <a:r>
              <a:rPr lang="zh-CN" altLang="en-US" sz="1100" dirty="0"/>
              <a:t>年，一些狗患有一种不知名的呼吸道疾病。一项调查表明这种呼吸道疾病是由马流感</a:t>
            </a:r>
            <a:r>
              <a:rPr lang="en-US" altLang="zh-CN" sz="1100" dirty="0"/>
              <a:t>A</a:t>
            </a:r>
            <a:r>
              <a:rPr lang="en-US" altLang="zh-CN" sz="1100" dirty="0">
                <a:latin typeface="Arial"/>
              </a:rPr>
              <a:t> </a:t>
            </a:r>
            <a:r>
              <a:rPr lang="en-US" altLang="zh-CN" sz="1100" dirty="0"/>
              <a:t>H3N8</a:t>
            </a:r>
            <a:r>
              <a:rPr lang="zh-CN" altLang="en-US" sz="1100" dirty="0"/>
              <a:t>病毒导致的。科学家认为这种病毒从马传染给狗，现在能在狗与狗之间传播，导致衍生出特种的</a:t>
            </a:r>
            <a:r>
              <a:rPr lang="en-US" altLang="zh-CN" sz="1100" dirty="0"/>
              <a:t>H3N8</a:t>
            </a:r>
            <a:r>
              <a:rPr lang="zh-CN" altLang="en-US" sz="1100" dirty="0"/>
              <a:t>狗流感病毒。病毒有可能从狗传染给人。 </a:t>
            </a:r>
            <a:endParaRPr lang="zh-CN" altLang="en-US" dirty="0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携带流感病毒动物</a:t>
            </a:r>
            <a:endParaRPr lang="en-US" altLang="zh-CN"/>
          </a:p>
        </p:txBody>
      </p:sp>
      <p:pic>
        <p:nvPicPr>
          <p:cNvPr id="9" name="Picture 6" descr="搜狐社区网友上传图片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872373"/>
            <a:ext cx="4040188" cy="2556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7" descr="搜狐社区网友上传图片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5025" y="2871871"/>
            <a:ext cx="4041775" cy="25572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6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6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0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195" grpId="0" build="p"/>
      <p:bldP spid="5" grpId="0" build="p"/>
    </p:bldLst>
  </p:timing>
</p:sld>
</file>

<file path=ppt/theme/theme1.xml><?xml version="1.0" encoding="utf-8"?>
<a:theme xmlns:a="http://schemas.openxmlformats.org/drawingml/2006/main" name="default">
  <a:themeElements>
    <a:clrScheme name="default 2">
      <a:dk1>
        <a:srgbClr val="000099"/>
      </a:dk1>
      <a:lt1>
        <a:srgbClr val="FFFFFF"/>
      </a:lt1>
      <a:dk2>
        <a:srgbClr val="000066"/>
      </a:dk2>
      <a:lt2>
        <a:srgbClr val="EAEAEA"/>
      </a:lt2>
      <a:accent1>
        <a:srgbClr val="66CCFF"/>
      </a:accent1>
      <a:accent2>
        <a:srgbClr val="0066FF"/>
      </a:accent2>
      <a:accent3>
        <a:srgbClr val="AAAAB8"/>
      </a:accent3>
      <a:accent4>
        <a:srgbClr val="DADADA"/>
      </a:accent4>
      <a:accent5>
        <a:srgbClr val="B8E2FF"/>
      </a:accent5>
      <a:accent6>
        <a:srgbClr val="005CE7"/>
      </a:accent6>
      <a:hlink>
        <a:srgbClr val="FFFFCC"/>
      </a:hlink>
      <a:folHlink>
        <a:srgbClr val="99CC00"/>
      </a:folHlink>
    </a:clrScheme>
    <a:fontScheme name="defaul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1">
        <a:dk1>
          <a:srgbClr val="BD3737"/>
        </a:dk1>
        <a:lt1>
          <a:srgbClr val="FFFFFF"/>
        </a:lt1>
        <a:dk2>
          <a:srgbClr val="721E1E"/>
        </a:dk2>
        <a:lt2>
          <a:srgbClr val="FFCC00"/>
        </a:lt2>
        <a:accent1>
          <a:srgbClr val="FF6600"/>
        </a:accent1>
        <a:accent2>
          <a:srgbClr val="CC3300"/>
        </a:accent2>
        <a:accent3>
          <a:srgbClr val="BCABAB"/>
        </a:accent3>
        <a:accent4>
          <a:srgbClr val="DADADA"/>
        </a:accent4>
        <a:accent5>
          <a:srgbClr val="FFB8AA"/>
        </a:accent5>
        <a:accent6>
          <a:srgbClr val="B92D00"/>
        </a:accent6>
        <a:hlink>
          <a:srgbClr val="F7CC2F"/>
        </a:hlink>
        <a:folHlink>
          <a:srgbClr val="C7C6B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2">
        <a:dk1>
          <a:srgbClr val="000099"/>
        </a:dk1>
        <a:lt1>
          <a:srgbClr val="FFFFFF"/>
        </a:lt1>
        <a:dk2>
          <a:srgbClr val="000066"/>
        </a:dk2>
        <a:lt2>
          <a:srgbClr val="EAEAEA"/>
        </a:lt2>
        <a:accent1>
          <a:srgbClr val="66CCFF"/>
        </a:accent1>
        <a:accent2>
          <a:srgbClr val="0066FF"/>
        </a:accent2>
        <a:accent3>
          <a:srgbClr val="AAAAB8"/>
        </a:accent3>
        <a:accent4>
          <a:srgbClr val="DADADA"/>
        </a:accent4>
        <a:accent5>
          <a:srgbClr val="B8E2FF"/>
        </a:accent5>
        <a:accent6>
          <a:srgbClr val="005CE7"/>
        </a:accent6>
        <a:hlink>
          <a:srgbClr val="FFFFCC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3">
        <a:dk1>
          <a:srgbClr val="6600CC"/>
        </a:dk1>
        <a:lt1>
          <a:srgbClr val="FFFFFF"/>
        </a:lt1>
        <a:dk2>
          <a:srgbClr val="4B0096"/>
        </a:dk2>
        <a:lt2>
          <a:srgbClr val="CDD7DF"/>
        </a:lt2>
        <a:accent1>
          <a:srgbClr val="9999FF"/>
        </a:accent1>
        <a:accent2>
          <a:srgbClr val="7850BA"/>
        </a:accent2>
        <a:accent3>
          <a:srgbClr val="B1AAC9"/>
        </a:accent3>
        <a:accent4>
          <a:srgbClr val="DADADA"/>
        </a:accent4>
        <a:accent5>
          <a:srgbClr val="CACAFF"/>
        </a:accent5>
        <a:accent6>
          <a:srgbClr val="6C48A8"/>
        </a:accent6>
        <a:hlink>
          <a:srgbClr val="00CCFF"/>
        </a:hlink>
        <a:folHlink>
          <a:srgbClr val="0796B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4">
        <a:dk1>
          <a:srgbClr val="55863C"/>
        </a:dk1>
        <a:lt1>
          <a:srgbClr val="FFFFFF"/>
        </a:lt1>
        <a:dk2>
          <a:srgbClr val="375F2F"/>
        </a:dk2>
        <a:lt2>
          <a:srgbClr val="D1EFB3"/>
        </a:lt2>
        <a:accent1>
          <a:srgbClr val="00CC66"/>
        </a:accent1>
        <a:accent2>
          <a:srgbClr val="8EAC66"/>
        </a:accent2>
        <a:accent3>
          <a:srgbClr val="AEB6AD"/>
        </a:accent3>
        <a:accent4>
          <a:srgbClr val="DADADA"/>
        </a:accent4>
        <a:accent5>
          <a:srgbClr val="AAE2B8"/>
        </a:accent5>
        <a:accent6>
          <a:srgbClr val="809B5C"/>
        </a:accent6>
        <a:hlink>
          <a:srgbClr val="B4EF7F"/>
        </a:hlink>
        <a:folHlink>
          <a:srgbClr val="F8F6A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5">
        <a:dk1>
          <a:srgbClr val="588073"/>
        </a:dk1>
        <a:lt1>
          <a:srgbClr val="FFFFFF"/>
        </a:lt1>
        <a:dk2>
          <a:srgbClr val="486768"/>
        </a:dk2>
        <a:lt2>
          <a:srgbClr val="DDDDDD"/>
        </a:lt2>
        <a:accent1>
          <a:srgbClr val="33CCCC"/>
        </a:accent1>
        <a:accent2>
          <a:srgbClr val="008871"/>
        </a:accent2>
        <a:accent3>
          <a:srgbClr val="B1B8B9"/>
        </a:accent3>
        <a:accent4>
          <a:srgbClr val="DADADA"/>
        </a:accent4>
        <a:accent5>
          <a:srgbClr val="ADE2E2"/>
        </a:accent5>
        <a:accent6>
          <a:srgbClr val="007B66"/>
        </a:accent6>
        <a:hlink>
          <a:srgbClr val="00CC99"/>
        </a:hlink>
        <a:folHlink>
          <a:srgbClr val="A8A8A8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6">
        <a:dk1>
          <a:srgbClr val="6B6C75"/>
        </a:dk1>
        <a:lt1>
          <a:srgbClr val="FFFFFF"/>
        </a:lt1>
        <a:dk2>
          <a:srgbClr val="575863"/>
        </a:dk2>
        <a:lt2>
          <a:srgbClr val="FFFFCC"/>
        </a:lt2>
        <a:accent1>
          <a:srgbClr val="677481"/>
        </a:accent1>
        <a:accent2>
          <a:srgbClr val="697E5E"/>
        </a:accent2>
        <a:accent3>
          <a:srgbClr val="B4B4B7"/>
        </a:accent3>
        <a:accent4>
          <a:srgbClr val="DADADA"/>
        </a:accent4>
        <a:accent5>
          <a:srgbClr val="B8BCC1"/>
        </a:accent5>
        <a:accent6>
          <a:srgbClr val="5E7254"/>
        </a:accent6>
        <a:hlink>
          <a:srgbClr val="E9E77F"/>
        </a:hlink>
        <a:folHlink>
          <a:srgbClr val="D3A44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7">
        <a:dk1>
          <a:srgbClr val="000000"/>
        </a:dk1>
        <a:lt1>
          <a:srgbClr val="C4D6BE"/>
        </a:lt1>
        <a:dk2>
          <a:srgbClr val="339966"/>
        </a:dk2>
        <a:lt2>
          <a:srgbClr val="EFFBF0"/>
        </a:lt2>
        <a:accent1>
          <a:srgbClr val="DDDDDD"/>
        </a:accent1>
        <a:accent2>
          <a:srgbClr val="CCFF99"/>
        </a:accent2>
        <a:accent3>
          <a:srgbClr val="DEE8DB"/>
        </a:accent3>
        <a:accent4>
          <a:srgbClr val="000000"/>
        </a:accent4>
        <a:accent5>
          <a:srgbClr val="EBEBEB"/>
        </a:accent5>
        <a:accent6>
          <a:srgbClr val="B9E78A"/>
        </a:accent6>
        <a:hlink>
          <a:srgbClr val="009900"/>
        </a:hlink>
        <a:folHlink>
          <a:srgbClr val="33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8">
        <a:dk1>
          <a:srgbClr val="000000"/>
        </a:dk1>
        <a:lt1>
          <a:srgbClr val="D6DAE4"/>
        </a:lt1>
        <a:dk2>
          <a:srgbClr val="000099"/>
        </a:dk2>
        <a:lt2>
          <a:srgbClr val="FFFFFF"/>
        </a:lt2>
        <a:accent1>
          <a:srgbClr val="BFDEE3"/>
        </a:accent1>
        <a:accent2>
          <a:srgbClr val="C0C0C0"/>
        </a:accent2>
        <a:accent3>
          <a:srgbClr val="E8EAEF"/>
        </a:accent3>
        <a:accent4>
          <a:srgbClr val="000000"/>
        </a:accent4>
        <a:accent5>
          <a:srgbClr val="DCECEF"/>
        </a:accent5>
        <a:accent6>
          <a:srgbClr val="AEAEAE"/>
        </a:accent6>
        <a:hlink>
          <a:srgbClr val="3333CC"/>
        </a:hlink>
        <a:folHlink>
          <a:srgbClr val="5E93C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9">
        <a:dk1>
          <a:srgbClr val="4A2500"/>
        </a:dk1>
        <a:lt1>
          <a:srgbClr val="C2C0BA"/>
        </a:lt1>
        <a:dk2>
          <a:srgbClr val="788569"/>
        </a:dk2>
        <a:lt2>
          <a:srgbClr val="F4F4EC"/>
        </a:lt2>
        <a:accent1>
          <a:srgbClr val="E1DFC1"/>
        </a:accent1>
        <a:accent2>
          <a:srgbClr val="A5A7AF"/>
        </a:accent2>
        <a:accent3>
          <a:srgbClr val="DDDCD9"/>
        </a:accent3>
        <a:accent4>
          <a:srgbClr val="3E1E00"/>
        </a:accent4>
        <a:accent5>
          <a:srgbClr val="EEECDD"/>
        </a:accent5>
        <a:accent6>
          <a:srgbClr val="95979E"/>
        </a:accent6>
        <a:hlink>
          <a:srgbClr val="9C9800"/>
        </a:hlink>
        <a:folHlink>
          <a:srgbClr val="666633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</Template>
  <TotalTime>108</TotalTime>
  <Words>174</Words>
  <Application>Microsoft Office PowerPoint</Application>
  <PresentationFormat>全屏显示(4:3)</PresentationFormat>
  <Paragraphs>8</Paragraphs>
  <Slides>3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4" baseType="lpstr">
      <vt:lpstr>default</vt:lpstr>
      <vt:lpstr>哪些动物将流感病毒传染给人？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十大携带流感病毒动物 </dc:title>
  <dc:creator>User</dc:creator>
  <cp:lastModifiedBy>YlmF</cp:lastModifiedBy>
  <cp:revision>10</cp:revision>
  <cp:lastPrinted>1601-01-01T00:00:00Z</cp:lastPrinted>
  <dcterms:created xsi:type="dcterms:W3CDTF">2009-07-18T09:18:25Z</dcterms:created>
  <dcterms:modified xsi:type="dcterms:W3CDTF">2013-09-03T08:24:29Z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7</vt:i4>
  </property>
</Properties>
</file>