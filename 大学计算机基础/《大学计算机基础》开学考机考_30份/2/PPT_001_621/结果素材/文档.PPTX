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60" r:id="rId3"/>
    <p:sldId id="266" r:id="rId4"/>
    <p:sldId id="267" r:id="rId5"/>
    <p:sldId id="274" r:id="rId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440" y="-3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EF938A7-4D70-4AA1-9AE0-29442439F6F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53753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47BFF-1F27-4D35-9A46-612EAB2301BF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481E3-F3E8-4170-AA5C-0C84D68BB61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1FB85-3DFD-464F-91FF-4B7E7F8303A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EA8D4-AADB-44FB-83C0-5C7209C2A91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E2B10-7A8C-47DF-B7F2-F220C40CD26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04663-176C-44EF-BFC0-F05924F96BD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AF04-B00F-4666-BD49-C44D305F979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BDAA2-B476-4D62-8AA1-2D3E85CEAF3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846A5-994C-4581-8F39-5FE659BE9C9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48B2-F21E-427B-B10C-0B32FA64BE3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6852-A2EA-40B0-8B65-97E84F85D12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DC5E5657-710E-4E46-A311-DD34FD8A6C3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oleObject" Target="../embeddings/oleObject4.bin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zh-CN" altLang="en-US" sz="4400" dirty="0">
                <a:latin typeface="黑体" pitchFamily="2" charset="-122"/>
                <a:ea typeface="黑体" pitchFamily="2" charset="-122"/>
              </a:rPr>
              <a:t>软件项目管理</a:t>
            </a:r>
            <a:endParaRPr lang="zh-CN" altLang="zh-CN" sz="4400" dirty="0"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3076" name="Object 4"/>
          <p:cNvGraphicFramePr>
            <a:graphicFrameLocks noChangeAspect="1"/>
          </p:cNvGraphicFramePr>
          <p:nvPr/>
        </p:nvGraphicFramePr>
        <p:xfrm>
          <a:off x="2057400" y="1981200"/>
          <a:ext cx="4495800" cy="430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Drawing" r:id="rId3" imgW="1342800" imgH="1285200" progId="FLW3Drawing">
                  <p:embed/>
                </p:oleObj>
              </mc:Choice>
              <mc:Fallback>
                <p:oleObj name="Drawing" r:id="rId3" imgW="1342800" imgH="1285200" progId="FLW3Drawing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981200"/>
                        <a:ext cx="4495800" cy="430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orient="vert"/>
          </p:nvPr>
        </p:nvSpPr>
        <p:spPr/>
        <p:txBody>
          <a:bodyPr/>
          <a:lstStyle/>
          <a:p>
            <a:r>
              <a:rPr lang="zh-CN" altLang="en-US" dirty="0"/>
              <a:t>项目管理的主要任务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zh-CN" altLang="en-US" dirty="0"/>
              <a:t>软件开发计划</a:t>
            </a:r>
          </a:p>
          <a:p>
            <a:r>
              <a:rPr lang="zh-CN" altLang="en-US" dirty="0"/>
              <a:t>软件规模估算</a:t>
            </a:r>
          </a:p>
          <a:p>
            <a:r>
              <a:rPr lang="zh-CN" altLang="en-US" dirty="0"/>
              <a:t>风险分析</a:t>
            </a:r>
          </a:p>
          <a:p>
            <a:r>
              <a:rPr lang="zh-CN" altLang="en-US" dirty="0"/>
              <a:t>度量</a:t>
            </a:r>
          </a:p>
          <a:p>
            <a:r>
              <a:rPr lang="zh-CN" altLang="en-US" dirty="0"/>
              <a:t>项目跟踪与监控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原型模型</a:t>
            </a:r>
          </a:p>
        </p:txBody>
      </p:sp>
      <p:grpSp>
        <p:nvGrpSpPr>
          <p:cNvPr id="16387" name="Group 3"/>
          <p:cNvGrpSpPr>
            <a:grpSpLocks/>
          </p:cNvGrpSpPr>
          <p:nvPr/>
        </p:nvGrpSpPr>
        <p:grpSpPr bwMode="auto">
          <a:xfrm>
            <a:off x="1905000" y="1828800"/>
            <a:ext cx="5121275" cy="4475163"/>
            <a:chOff x="1200" y="1152"/>
            <a:chExt cx="3226" cy="2819"/>
          </a:xfrm>
        </p:grpSpPr>
        <p:graphicFrame>
          <p:nvGraphicFramePr>
            <p:cNvPr id="16388" name="Object 4"/>
            <p:cNvGraphicFramePr>
              <a:graphicFrameLocks noChangeAspect="1"/>
            </p:cNvGraphicFramePr>
            <p:nvPr/>
          </p:nvGraphicFramePr>
          <p:xfrm>
            <a:off x="1200" y="1152"/>
            <a:ext cx="3120" cy="28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5" name="Drawing" r:id="rId3" imgW="2779200" imgH="2808000" progId="FLW3Drawing">
                    <p:embed/>
                  </p:oleObj>
                </mc:Choice>
                <mc:Fallback>
                  <p:oleObj name="Drawing" r:id="rId3" imgW="2779200" imgH="2808000" progId="FLW3Drawing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152"/>
                          <a:ext cx="3120" cy="28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89" name="Text Box 5"/>
            <p:cNvSpPr txBox="1">
              <a:spLocks noChangeArrowheads="1"/>
            </p:cNvSpPr>
            <p:nvPr/>
          </p:nvSpPr>
          <p:spPr bwMode="auto">
            <a:xfrm>
              <a:off x="3603" y="2403"/>
              <a:ext cx="823" cy="5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4182" tIns="57092" rIns="114182" bIns="57092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0" lang="zh-CN" altLang="en-US" sz="1800" b="1">
                  <a:solidFill>
                    <a:schemeClr val="bg1"/>
                  </a:solidFill>
                  <a:latin typeface="Verdana" pitchFamily="34" charset="0"/>
                </a:rPr>
                <a:t>建造</a:t>
              </a:r>
              <a:r>
                <a:rPr kumimoji="0" lang="en-US" altLang="zh-CN" sz="1800" b="1">
                  <a:solidFill>
                    <a:schemeClr val="bg1"/>
                  </a:solidFill>
                  <a:latin typeface="Verdana" pitchFamily="34" charset="0"/>
                </a:rPr>
                <a:t>/</a:t>
              </a:r>
              <a:r>
                <a:rPr kumimoji="0" lang="zh-CN" altLang="en-US" sz="1800" b="1">
                  <a:solidFill>
                    <a:schemeClr val="bg1"/>
                  </a:solidFill>
                  <a:latin typeface="Verdana" pitchFamily="34" charset="0"/>
                </a:rPr>
                <a:t>修改</a:t>
              </a:r>
            </a:p>
            <a:p>
              <a:pPr algn="ctr" eaLnBrk="0" hangingPunct="0">
                <a:spcBef>
                  <a:spcPct val="50000"/>
                </a:spcBef>
              </a:pPr>
              <a:r>
                <a:rPr kumimoji="0" lang="zh-CN" altLang="en-US" sz="1800" b="1">
                  <a:solidFill>
                    <a:schemeClr val="bg1"/>
                  </a:solidFill>
                  <a:latin typeface="Verdana" pitchFamily="34" charset="0"/>
                </a:rPr>
                <a:t>原型</a:t>
              </a:r>
            </a:p>
          </p:txBody>
        </p:sp>
        <p:sp>
          <p:nvSpPr>
            <p:cNvPr id="16390" name="Text Box 6"/>
            <p:cNvSpPr txBox="1">
              <a:spLocks noChangeArrowheads="1"/>
            </p:cNvSpPr>
            <p:nvPr/>
          </p:nvSpPr>
          <p:spPr bwMode="auto">
            <a:xfrm>
              <a:off x="2256" y="1344"/>
              <a:ext cx="1056" cy="5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14182" tIns="57092" rIns="114182" bIns="57092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0" lang="zh-CN" altLang="en-US" sz="1800" b="1">
                  <a:solidFill>
                    <a:schemeClr val="bg1"/>
                  </a:solidFill>
                  <a:latin typeface="Verdana" pitchFamily="34" charset="0"/>
                </a:rPr>
                <a:t>听取用户</a:t>
              </a:r>
            </a:p>
            <a:p>
              <a:pPr algn="ctr" eaLnBrk="0" hangingPunct="0">
                <a:spcBef>
                  <a:spcPct val="50000"/>
                </a:spcBef>
              </a:pPr>
              <a:r>
                <a:rPr kumimoji="0" lang="zh-CN" altLang="en-US" sz="1800" b="1">
                  <a:solidFill>
                    <a:schemeClr val="bg1"/>
                  </a:solidFill>
                  <a:latin typeface="Verdana" pitchFamily="34" charset="0"/>
                </a:rPr>
                <a:t>意见</a:t>
              </a:r>
            </a:p>
          </p:txBody>
        </p:sp>
        <p:sp>
          <p:nvSpPr>
            <p:cNvPr id="16391" name="Text Box 7"/>
            <p:cNvSpPr txBox="1">
              <a:spLocks noChangeArrowheads="1"/>
            </p:cNvSpPr>
            <p:nvPr/>
          </p:nvSpPr>
          <p:spPr bwMode="auto">
            <a:xfrm>
              <a:off x="1680" y="3264"/>
              <a:ext cx="724" cy="5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4182" tIns="57092" rIns="114182" bIns="57092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0" lang="zh-CN" altLang="en-US" sz="1800" b="1">
                  <a:solidFill>
                    <a:schemeClr val="bg1"/>
                  </a:solidFill>
                  <a:latin typeface="Verdana" pitchFamily="34" charset="0"/>
                </a:rPr>
                <a:t>用户测试</a:t>
              </a:r>
            </a:p>
            <a:p>
              <a:pPr algn="ctr" eaLnBrk="0" hangingPunct="0">
                <a:spcBef>
                  <a:spcPct val="50000"/>
                </a:spcBef>
              </a:pPr>
              <a:r>
                <a:rPr kumimoji="0" lang="zh-CN" altLang="en-US" sz="1800" b="1">
                  <a:solidFill>
                    <a:schemeClr val="bg1"/>
                  </a:solidFill>
                  <a:latin typeface="Verdana" pitchFamily="34" charset="0"/>
                </a:rPr>
                <a:t>运行原型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zh-CN" altLang="en-US"/>
              <a:t>增量模型</a:t>
            </a:r>
          </a:p>
        </p:txBody>
      </p:sp>
      <p:grpSp>
        <p:nvGrpSpPr>
          <p:cNvPr id="17411" name="Group 3"/>
          <p:cNvGrpSpPr>
            <a:grpSpLocks/>
          </p:cNvGrpSpPr>
          <p:nvPr/>
        </p:nvGrpSpPr>
        <p:grpSpPr bwMode="auto">
          <a:xfrm>
            <a:off x="63500" y="1752600"/>
            <a:ext cx="9091613" cy="4841875"/>
            <a:chOff x="40" y="1104"/>
            <a:chExt cx="5727" cy="3050"/>
          </a:xfrm>
        </p:grpSpPr>
        <p:graphicFrame>
          <p:nvGraphicFramePr>
            <p:cNvPr id="17412" name="Object 4"/>
            <p:cNvGraphicFramePr>
              <a:graphicFrameLocks noChangeAspect="1"/>
            </p:cNvGraphicFramePr>
            <p:nvPr/>
          </p:nvGraphicFramePr>
          <p:xfrm>
            <a:off x="528" y="1104"/>
            <a:ext cx="2112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38" name="Drawing" r:id="rId3" imgW="4305600" imgH="597600" progId="FLW3Drawing">
                    <p:embed/>
                  </p:oleObj>
                </mc:Choice>
                <mc:Fallback>
                  <p:oleObj name="Drawing" r:id="rId3" imgW="4305600" imgH="597600" progId="FLW3Drawing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1104"/>
                          <a:ext cx="2112" cy="3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3" name="Object 5"/>
            <p:cNvGraphicFramePr>
              <a:graphicFrameLocks noChangeAspect="1"/>
            </p:cNvGraphicFramePr>
            <p:nvPr/>
          </p:nvGraphicFramePr>
          <p:xfrm>
            <a:off x="1200" y="1744"/>
            <a:ext cx="2112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39" name="Drawing" r:id="rId5" imgW="4305600" imgH="597600" progId="FLW3Drawing">
                    <p:embed/>
                  </p:oleObj>
                </mc:Choice>
                <mc:Fallback>
                  <p:oleObj name="Drawing" r:id="rId5" imgW="4305600" imgH="597600" progId="FLW3Drawing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744"/>
                          <a:ext cx="2112" cy="3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4" name="Object 6"/>
            <p:cNvGraphicFramePr>
              <a:graphicFrameLocks noChangeAspect="1"/>
            </p:cNvGraphicFramePr>
            <p:nvPr/>
          </p:nvGraphicFramePr>
          <p:xfrm>
            <a:off x="1824" y="2384"/>
            <a:ext cx="2112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40" name="Drawing" r:id="rId6" imgW="4305600" imgH="597600" progId="FLW3Drawing">
                    <p:embed/>
                  </p:oleObj>
                </mc:Choice>
                <mc:Fallback>
                  <p:oleObj name="Drawing" r:id="rId6" imgW="4305600" imgH="597600" progId="FLW3Drawing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2384"/>
                          <a:ext cx="2112" cy="3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5" name="Object 7"/>
            <p:cNvGraphicFramePr>
              <a:graphicFrameLocks noChangeAspect="1"/>
            </p:cNvGraphicFramePr>
            <p:nvPr/>
          </p:nvGraphicFramePr>
          <p:xfrm>
            <a:off x="2544" y="3024"/>
            <a:ext cx="2112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41" name="Drawing" r:id="rId7" imgW="4305600" imgH="597600" progId="FLW3Drawing">
                    <p:embed/>
                  </p:oleObj>
                </mc:Choice>
                <mc:Fallback>
                  <p:oleObj name="Drawing" r:id="rId7" imgW="4305600" imgH="597600" progId="FLW3Drawing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3024"/>
                          <a:ext cx="2112" cy="3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16" name="Text Box 8"/>
            <p:cNvSpPr txBox="1">
              <a:spLocks noChangeArrowheads="1"/>
            </p:cNvSpPr>
            <p:nvPr/>
          </p:nvSpPr>
          <p:spPr bwMode="auto">
            <a:xfrm>
              <a:off x="40" y="1152"/>
              <a:ext cx="536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4182" tIns="57092" rIns="114182" bIns="57092" anchor="ctr">
              <a:spAutoFit/>
              <a:flatTx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0" lang="zh-CN" altLang="en-US" sz="1800" b="1">
                  <a:solidFill>
                    <a:schemeClr val="bg1"/>
                  </a:solidFill>
                  <a:latin typeface="Verdana" pitchFamily="34" charset="0"/>
                </a:rPr>
                <a:t>增量</a:t>
              </a:r>
              <a:r>
                <a:rPr kumimoji="0" lang="en-US" altLang="zh-CN" sz="1800" b="1">
                  <a:solidFill>
                    <a:schemeClr val="bg1"/>
                  </a:solidFill>
                  <a:latin typeface="Verdana" pitchFamily="34" charset="0"/>
                </a:rPr>
                <a:t>1</a:t>
              </a:r>
            </a:p>
          </p:txBody>
        </p:sp>
        <p:sp>
          <p:nvSpPr>
            <p:cNvPr id="17417" name="Text Box 9"/>
            <p:cNvSpPr txBox="1">
              <a:spLocks noChangeArrowheads="1"/>
            </p:cNvSpPr>
            <p:nvPr/>
          </p:nvSpPr>
          <p:spPr bwMode="auto">
            <a:xfrm>
              <a:off x="424" y="1776"/>
              <a:ext cx="536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4182" tIns="57092" rIns="114182" bIns="57092" anchor="ctr">
              <a:spAutoFit/>
              <a:flatTx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0" lang="zh-CN" altLang="en-US" sz="1800" b="1">
                  <a:solidFill>
                    <a:schemeClr val="bg1"/>
                  </a:solidFill>
                  <a:latin typeface="Verdana" pitchFamily="34" charset="0"/>
                </a:rPr>
                <a:t>增量</a:t>
              </a:r>
              <a:r>
                <a:rPr kumimoji="0" lang="en-US" altLang="zh-CN" sz="1800" b="1">
                  <a:solidFill>
                    <a:schemeClr val="bg1"/>
                  </a:solidFill>
                  <a:latin typeface="Verdana" pitchFamily="34" charset="0"/>
                </a:rPr>
                <a:t>2</a:t>
              </a:r>
            </a:p>
          </p:txBody>
        </p:sp>
        <p:sp>
          <p:nvSpPr>
            <p:cNvPr id="17418" name="Text Box 10"/>
            <p:cNvSpPr txBox="1">
              <a:spLocks noChangeArrowheads="1"/>
            </p:cNvSpPr>
            <p:nvPr/>
          </p:nvSpPr>
          <p:spPr bwMode="auto">
            <a:xfrm>
              <a:off x="912" y="2448"/>
              <a:ext cx="536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4182" tIns="57092" rIns="114182" bIns="57092" anchor="ctr">
              <a:spAutoFit/>
              <a:flatTx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0" lang="zh-CN" altLang="en-US" sz="1800" b="1">
                  <a:solidFill>
                    <a:schemeClr val="bg1"/>
                  </a:solidFill>
                  <a:latin typeface="Verdana" pitchFamily="34" charset="0"/>
                </a:rPr>
                <a:t>增量</a:t>
              </a:r>
              <a:r>
                <a:rPr kumimoji="0" lang="en-US" altLang="zh-CN" sz="1800" b="1">
                  <a:solidFill>
                    <a:schemeClr val="bg1"/>
                  </a:solidFill>
                  <a:latin typeface="Verdana" pitchFamily="34" charset="0"/>
                </a:rPr>
                <a:t>3</a:t>
              </a:r>
            </a:p>
          </p:txBody>
        </p:sp>
        <p:sp>
          <p:nvSpPr>
            <p:cNvPr id="17419" name="Text Box 11"/>
            <p:cNvSpPr txBox="1">
              <a:spLocks noChangeArrowheads="1"/>
            </p:cNvSpPr>
            <p:nvPr/>
          </p:nvSpPr>
          <p:spPr bwMode="auto">
            <a:xfrm>
              <a:off x="1488" y="3120"/>
              <a:ext cx="536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4182" tIns="57092" rIns="114182" bIns="57092" anchor="ctr">
              <a:spAutoFit/>
              <a:flatTx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0" lang="zh-CN" altLang="en-US" sz="1800" b="1">
                  <a:solidFill>
                    <a:schemeClr val="bg1"/>
                  </a:solidFill>
                  <a:latin typeface="Verdana" pitchFamily="34" charset="0"/>
                </a:rPr>
                <a:t>增量</a:t>
              </a:r>
              <a:r>
                <a:rPr kumimoji="0" lang="en-US" altLang="zh-CN" sz="1800" b="1">
                  <a:solidFill>
                    <a:schemeClr val="bg1"/>
                  </a:solidFill>
                  <a:latin typeface="Verdana" pitchFamily="34" charset="0"/>
                </a:rPr>
                <a:t>4</a:t>
              </a:r>
            </a:p>
          </p:txBody>
        </p:sp>
        <p:sp>
          <p:nvSpPr>
            <p:cNvPr id="17420" name="Text Box 12"/>
            <p:cNvSpPr txBox="1">
              <a:spLocks noChangeArrowheads="1"/>
            </p:cNvSpPr>
            <p:nvPr/>
          </p:nvSpPr>
          <p:spPr bwMode="auto">
            <a:xfrm>
              <a:off x="3216" y="1152"/>
              <a:ext cx="1159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4182" tIns="57092" rIns="114182" bIns="57092" anchor="ctr">
              <a:spAutoFit/>
              <a:flatTx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0" lang="zh-CN" altLang="en-US" sz="1800" b="1">
                  <a:solidFill>
                    <a:schemeClr val="bg1"/>
                  </a:solidFill>
                  <a:latin typeface="Verdana" pitchFamily="34" charset="0"/>
                </a:rPr>
                <a:t>第一个增量发布</a:t>
              </a:r>
            </a:p>
          </p:txBody>
        </p:sp>
        <p:sp>
          <p:nvSpPr>
            <p:cNvPr id="17421" name="Text Box 13"/>
            <p:cNvSpPr txBox="1">
              <a:spLocks noChangeArrowheads="1"/>
            </p:cNvSpPr>
            <p:nvPr/>
          </p:nvSpPr>
          <p:spPr bwMode="auto">
            <a:xfrm>
              <a:off x="3600" y="1819"/>
              <a:ext cx="1159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4182" tIns="57092" rIns="114182" bIns="57092" anchor="ctr">
              <a:spAutoFit/>
              <a:flatTx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0" lang="zh-CN" altLang="en-US" sz="1800" b="1">
                  <a:solidFill>
                    <a:schemeClr val="bg1"/>
                  </a:solidFill>
                  <a:latin typeface="Verdana" pitchFamily="34" charset="0"/>
                </a:rPr>
                <a:t>第二个增量发布</a:t>
              </a:r>
            </a:p>
          </p:txBody>
        </p:sp>
        <p:sp>
          <p:nvSpPr>
            <p:cNvPr id="17422" name="Text Box 14"/>
            <p:cNvSpPr txBox="1">
              <a:spLocks noChangeArrowheads="1"/>
            </p:cNvSpPr>
            <p:nvPr/>
          </p:nvSpPr>
          <p:spPr bwMode="auto">
            <a:xfrm>
              <a:off x="4176" y="2448"/>
              <a:ext cx="1156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4182" tIns="57092" rIns="114182" bIns="57092" anchor="ctr">
              <a:spAutoFit/>
              <a:flatTx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0" lang="zh-CN" altLang="en-US" sz="1800" b="1">
                  <a:solidFill>
                    <a:schemeClr val="bg1"/>
                  </a:solidFill>
                  <a:latin typeface="Verdana" pitchFamily="34" charset="0"/>
                </a:rPr>
                <a:t>第三个增量发布</a:t>
              </a:r>
            </a:p>
          </p:txBody>
        </p:sp>
        <p:sp>
          <p:nvSpPr>
            <p:cNvPr id="17423" name="Text Box 15"/>
            <p:cNvSpPr txBox="1">
              <a:spLocks noChangeArrowheads="1"/>
            </p:cNvSpPr>
            <p:nvPr/>
          </p:nvSpPr>
          <p:spPr bwMode="auto">
            <a:xfrm>
              <a:off x="4608" y="3067"/>
              <a:ext cx="1159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4182" tIns="57092" rIns="114182" bIns="57092" anchor="ctr">
              <a:spAutoFit/>
              <a:flatTx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0" lang="zh-CN" altLang="en-US" sz="1800" b="1">
                  <a:solidFill>
                    <a:schemeClr val="bg1"/>
                  </a:solidFill>
                  <a:latin typeface="Verdana" pitchFamily="34" charset="0"/>
                </a:rPr>
                <a:t>第四个增量发布</a:t>
              </a:r>
            </a:p>
          </p:txBody>
        </p:sp>
        <p:sp>
          <p:nvSpPr>
            <p:cNvPr id="17424" name="Line 16"/>
            <p:cNvSpPr>
              <a:spLocks noChangeShapeType="1"/>
            </p:cNvSpPr>
            <p:nvPr/>
          </p:nvSpPr>
          <p:spPr bwMode="auto">
            <a:xfrm>
              <a:off x="528" y="3792"/>
              <a:ext cx="4272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4182" tIns="57092" rIns="114182" bIns="57092" anchor="ctr"/>
            <a:lstStyle/>
            <a:p>
              <a:endParaRPr lang="zh-CN" altLang="en-US"/>
            </a:p>
          </p:txBody>
        </p:sp>
        <p:sp>
          <p:nvSpPr>
            <p:cNvPr id="17425" name="Text Box 17"/>
            <p:cNvSpPr txBox="1">
              <a:spLocks noChangeArrowheads="1"/>
            </p:cNvSpPr>
            <p:nvPr/>
          </p:nvSpPr>
          <p:spPr bwMode="auto">
            <a:xfrm>
              <a:off x="2133" y="3909"/>
              <a:ext cx="724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4182" tIns="57092" rIns="114182" bIns="57092" anchor="ctr">
              <a:spAutoFit/>
              <a:flatTx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0" lang="zh-CN" altLang="en-US" sz="1800" b="1">
                  <a:solidFill>
                    <a:schemeClr val="bg1"/>
                  </a:solidFill>
                  <a:latin typeface="Verdana" pitchFamily="34" charset="0"/>
                </a:rPr>
                <a:t>开发进度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5334000" cy="1143000"/>
          </a:xfrm>
        </p:spPr>
        <p:txBody>
          <a:bodyPr/>
          <a:lstStyle/>
          <a:p>
            <a:pPr algn="just">
              <a:spcAft>
                <a:spcPct val="15000"/>
              </a:spcAft>
            </a:pPr>
            <a:r>
              <a:rPr lang="en-US" altLang="zh-CN">
                <a:latin typeface="宋体" pitchFamily="2" charset="-122"/>
              </a:rPr>
              <a:t>    </a:t>
            </a:r>
            <a:r>
              <a:rPr lang="zh-CN" altLang="en-US">
                <a:latin typeface="宋体" pitchFamily="2" charset="-122"/>
              </a:rPr>
              <a:t>测量的实践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1371600" y="2057400"/>
            <a:ext cx="6324600" cy="4114800"/>
          </a:xfrm>
        </p:spPr>
        <p:txBody>
          <a:bodyPr/>
          <a:lstStyle/>
          <a:p>
            <a:r>
              <a:rPr lang="zh-CN" altLang="en-US"/>
              <a:t>项目管理者的责任</a:t>
            </a:r>
          </a:p>
          <a:p>
            <a:r>
              <a:rPr lang="zh-CN" altLang="en-US"/>
              <a:t>资源和成本的测量</a:t>
            </a:r>
          </a:p>
          <a:p>
            <a:r>
              <a:rPr lang="zh-CN" altLang="en-US"/>
              <a:t>项目进度与进展状态的测量</a:t>
            </a:r>
          </a:p>
          <a:p>
            <a:r>
              <a:rPr lang="zh-CN" altLang="en-US"/>
              <a:t>增长和稳定性测量</a:t>
            </a:r>
          </a:p>
          <a:p>
            <a:r>
              <a:rPr lang="zh-CN" altLang="en-US"/>
              <a:t>产品质量的测量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透明">
  <a:themeElements>
    <a:clrScheme name="透明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经典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透明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38</TotalTime>
  <Words>86</Words>
  <Application>Microsoft Office PowerPoint</Application>
  <PresentationFormat>全屏显示(4:3)</PresentationFormat>
  <Paragraphs>30</Paragraphs>
  <Slides>5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7" baseType="lpstr">
      <vt:lpstr>透明</vt:lpstr>
      <vt:lpstr>Drawing</vt:lpstr>
      <vt:lpstr>软件项目管理</vt:lpstr>
      <vt:lpstr>项目管理的主要任务</vt:lpstr>
      <vt:lpstr>原型模型</vt:lpstr>
      <vt:lpstr>增量模型</vt:lpstr>
      <vt:lpstr>    测量的实践</vt:lpstr>
    </vt:vector>
  </TitlesOfParts>
  <Company>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第9章 软件项目管理</dc:title>
  <dc:creator>Zhang</dc:creator>
  <cp:lastModifiedBy>YlmF</cp:lastModifiedBy>
  <cp:revision>5</cp:revision>
  <dcterms:created xsi:type="dcterms:W3CDTF">2001-11-24T14:22:17Z</dcterms:created>
  <dcterms:modified xsi:type="dcterms:W3CDTF">2013-08-28T00:46:49Z</dcterms:modified>
</cp:coreProperties>
</file>