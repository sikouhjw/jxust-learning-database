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6" r:id="rId3"/>
    <p:sldId id="267" r:id="rId4"/>
    <p:sldId id="274" r:id="rId5"/>
    <p:sldId id="256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EF938A7-4D70-4AA1-9AE0-29442439F6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375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47BFF-1F27-4D35-9A46-612EAB2301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04648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6481E3-F3E8-4170-AA5C-0C84D68BB6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450642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31FB85-3DFD-464F-91FF-4B7E7F8303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886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EA8D4-AADB-44FB-83C0-5C7209C2A9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359558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3E2B10-7A8C-47DF-B7F2-F220C40CD2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93946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304663-176C-44EF-BFC0-F05924F96BD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33015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EAF04-B00F-4666-BD49-C44D305F97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20508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BDAA2-B476-4D62-8AA1-2D3E85CEAF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443856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846A5-994C-4581-8F39-5FE659BE9C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711581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F148B2-F21E-427B-B10C-0B32FA64BE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326930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D6852-A2EA-40B0-8B65-97E84F85D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1270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C5E5657-710E-4E46-A311-DD34FD8A6C3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/>
              <a:t>项目管理的主要任务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软件开发计划</a:t>
            </a:r>
          </a:p>
          <a:p>
            <a:r>
              <a:rPr lang="zh-CN" altLang="en-US" dirty="0"/>
              <a:t>软件规模估算</a:t>
            </a:r>
          </a:p>
          <a:p>
            <a:r>
              <a:rPr lang="zh-CN" altLang="en-US" dirty="0"/>
              <a:t>风险分析</a:t>
            </a:r>
          </a:p>
          <a:p>
            <a:r>
              <a:rPr lang="zh-CN" altLang="en-US" dirty="0"/>
              <a:t>度量</a:t>
            </a:r>
          </a:p>
          <a:p>
            <a:r>
              <a:rPr lang="zh-CN" altLang="en-US" dirty="0"/>
              <a:t>项目跟踪与监控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原型模型</a:t>
            </a:r>
          </a:p>
        </p:txBody>
      </p:sp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1905000" y="1828800"/>
            <a:ext cx="5121275" cy="4475163"/>
            <a:chOff x="1200" y="1152"/>
            <a:chExt cx="3226" cy="2819"/>
          </a:xfrm>
        </p:grpSpPr>
        <p:graphicFrame>
          <p:nvGraphicFramePr>
            <p:cNvPr id="16388" name="Object 4"/>
            <p:cNvGraphicFramePr>
              <a:graphicFrameLocks noChangeAspect="1"/>
            </p:cNvGraphicFramePr>
            <p:nvPr/>
          </p:nvGraphicFramePr>
          <p:xfrm>
            <a:off x="1200" y="1152"/>
            <a:ext cx="3120" cy="2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5" name="Drawing" r:id="rId3" imgW="2779200" imgH="2808000" progId="FLW3Drawing">
                    <p:embed/>
                  </p:oleObj>
                </mc:Choice>
                <mc:Fallback>
                  <p:oleObj name="Drawing" r:id="rId3" imgW="2779200" imgH="2808000" progId="FLW3Drawing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2"/>
                          <a:ext cx="3120" cy="28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9" name="Text Box 5"/>
            <p:cNvSpPr txBox="1">
              <a:spLocks noChangeArrowheads="1"/>
            </p:cNvSpPr>
            <p:nvPr/>
          </p:nvSpPr>
          <p:spPr bwMode="auto">
            <a:xfrm>
              <a:off x="3603" y="2403"/>
              <a:ext cx="823" cy="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建造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/</a:t>
              </a: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修改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原型</a:t>
              </a:r>
            </a:p>
          </p:txBody>
        </p:sp>
        <p:sp>
          <p:nvSpPr>
            <p:cNvPr id="16390" name="Text Box 6"/>
            <p:cNvSpPr txBox="1">
              <a:spLocks noChangeArrowheads="1"/>
            </p:cNvSpPr>
            <p:nvPr/>
          </p:nvSpPr>
          <p:spPr bwMode="auto">
            <a:xfrm>
              <a:off x="2256" y="1344"/>
              <a:ext cx="1056" cy="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4182" tIns="57092" rIns="114182" bIns="57092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听取用户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意见</a:t>
              </a:r>
            </a:p>
          </p:txBody>
        </p:sp>
        <p:sp>
          <p:nvSpPr>
            <p:cNvPr id="16391" name="Text Box 7"/>
            <p:cNvSpPr txBox="1">
              <a:spLocks noChangeArrowheads="1"/>
            </p:cNvSpPr>
            <p:nvPr/>
          </p:nvSpPr>
          <p:spPr bwMode="auto">
            <a:xfrm>
              <a:off x="1680" y="3264"/>
              <a:ext cx="724" cy="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用户测试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运行原型</a:t>
              </a: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zh-CN" altLang="en-US"/>
              <a:t>增量模型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63500" y="1752600"/>
            <a:ext cx="9091613" cy="4841875"/>
            <a:chOff x="40" y="1104"/>
            <a:chExt cx="5727" cy="3050"/>
          </a:xfrm>
        </p:grpSpPr>
        <p:graphicFrame>
          <p:nvGraphicFramePr>
            <p:cNvPr id="17412" name="Object 4"/>
            <p:cNvGraphicFramePr>
              <a:graphicFrameLocks noChangeAspect="1"/>
            </p:cNvGraphicFramePr>
            <p:nvPr/>
          </p:nvGraphicFramePr>
          <p:xfrm>
            <a:off x="528" y="110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8" name="Drawing" r:id="rId3" imgW="4305600" imgH="597600" progId="FLW3Drawing">
                    <p:embed/>
                  </p:oleObj>
                </mc:Choice>
                <mc:Fallback>
                  <p:oleObj name="Drawing" r:id="rId3" imgW="4305600" imgH="597600" progId="FLW3Drawing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10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3" name="Object 5"/>
            <p:cNvGraphicFramePr>
              <a:graphicFrameLocks noChangeAspect="1"/>
            </p:cNvGraphicFramePr>
            <p:nvPr/>
          </p:nvGraphicFramePr>
          <p:xfrm>
            <a:off x="1200" y="174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9" name="Drawing" r:id="rId5" imgW="4305600" imgH="597600" progId="FLW3Drawing">
                    <p:embed/>
                  </p:oleObj>
                </mc:Choice>
                <mc:Fallback>
                  <p:oleObj name="Drawing" r:id="rId5" imgW="4305600" imgH="597600" progId="FLW3Drawing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74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6"/>
            <p:cNvGraphicFramePr>
              <a:graphicFrameLocks noChangeAspect="1"/>
            </p:cNvGraphicFramePr>
            <p:nvPr/>
          </p:nvGraphicFramePr>
          <p:xfrm>
            <a:off x="1824" y="238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0" name="Drawing" r:id="rId6" imgW="4305600" imgH="597600" progId="FLW3Drawing">
                    <p:embed/>
                  </p:oleObj>
                </mc:Choice>
                <mc:Fallback>
                  <p:oleObj name="Drawing" r:id="rId6" imgW="4305600" imgH="597600" progId="FLW3Drawing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8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7"/>
            <p:cNvGraphicFramePr>
              <a:graphicFrameLocks noChangeAspect="1"/>
            </p:cNvGraphicFramePr>
            <p:nvPr/>
          </p:nvGraphicFramePr>
          <p:xfrm>
            <a:off x="2544" y="3024"/>
            <a:ext cx="211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1" name="Drawing" r:id="rId7" imgW="4305600" imgH="597600" progId="FLW3Drawing">
                    <p:embed/>
                  </p:oleObj>
                </mc:Choice>
                <mc:Fallback>
                  <p:oleObj name="Drawing" r:id="rId7" imgW="4305600" imgH="597600" progId="FLW3Drawing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024"/>
                          <a:ext cx="2112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40" y="1152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1</a:t>
              </a:r>
            </a:p>
          </p:txBody>
        </p:sp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424" y="1776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2</a:t>
              </a:r>
            </a:p>
          </p:txBody>
        </p:sp>
        <p:sp>
          <p:nvSpPr>
            <p:cNvPr id="17418" name="Text Box 10"/>
            <p:cNvSpPr txBox="1">
              <a:spLocks noChangeArrowheads="1"/>
            </p:cNvSpPr>
            <p:nvPr/>
          </p:nvSpPr>
          <p:spPr bwMode="auto">
            <a:xfrm>
              <a:off x="912" y="2448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3</a:t>
              </a:r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1488" y="3120"/>
              <a:ext cx="53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增量</a:t>
              </a:r>
              <a:r>
                <a:rPr kumimoji="0" lang="en-US" altLang="zh-CN" sz="1800" b="1">
                  <a:solidFill>
                    <a:schemeClr val="bg1"/>
                  </a:solidFill>
                  <a:latin typeface="Verdana" pitchFamily="34" charset="0"/>
                </a:rPr>
                <a:t>4</a:t>
              </a:r>
            </a:p>
          </p:txBody>
        </p:sp>
        <p:sp>
          <p:nvSpPr>
            <p:cNvPr id="17420" name="Text Box 12"/>
            <p:cNvSpPr txBox="1">
              <a:spLocks noChangeArrowheads="1"/>
            </p:cNvSpPr>
            <p:nvPr/>
          </p:nvSpPr>
          <p:spPr bwMode="auto">
            <a:xfrm>
              <a:off x="3216" y="1152"/>
              <a:ext cx="1159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第一个增量发布</a:t>
              </a:r>
            </a:p>
          </p:txBody>
        </p: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3600" y="1819"/>
              <a:ext cx="1159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第二个增量发布</a:t>
              </a:r>
            </a:p>
          </p:txBody>
        </p:sp>
        <p:sp>
          <p:nvSpPr>
            <p:cNvPr id="17422" name="Text Box 14"/>
            <p:cNvSpPr txBox="1">
              <a:spLocks noChangeArrowheads="1"/>
            </p:cNvSpPr>
            <p:nvPr/>
          </p:nvSpPr>
          <p:spPr bwMode="auto">
            <a:xfrm>
              <a:off x="4176" y="2448"/>
              <a:ext cx="1156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第三个增量发布</a:t>
              </a:r>
            </a:p>
          </p:txBody>
        </p:sp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4608" y="3067"/>
              <a:ext cx="1159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第四个增量发布</a:t>
              </a:r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528" y="3792"/>
              <a:ext cx="4272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/>
            <a:lstStyle/>
            <a:p>
              <a:endParaRPr lang="zh-CN" altLang="en-US"/>
            </a:p>
          </p:txBody>
        </p:sp>
        <p:sp>
          <p:nvSpPr>
            <p:cNvPr id="17425" name="Text Box 17"/>
            <p:cNvSpPr txBox="1">
              <a:spLocks noChangeArrowheads="1"/>
            </p:cNvSpPr>
            <p:nvPr/>
          </p:nvSpPr>
          <p:spPr bwMode="auto">
            <a:xfrm>
              <a:off x="2133" y="3909"/>
              <a:ext cx="724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4182" tIns="57092" rIns="114182" bIns="57092" anchor="ctr">
              <a:spAutoFit/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zh-CN" altLang="en-US" sz="1800" b="1">
                  <a:solidFill>
                    <a:schemeClr val="bg1"/>
                  </a:solidFill>
                  <a:latin typeface="Verdana" pitchFamily="34" charset="0"/>
                </a:rPr>
                <a:t>开发进度</a:t>
              </a: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5334000" cy="1143000"/>
          </a:xfrm>
        </p:spPr>
        <p:txBody>
          <a:bodyPr/>
          <a:lstStyle/>
          <a:p>
            <a:pPr algn="just">
              <a:spcAft>
                <a:spcPct val="15000"/>
              </a:spcAft>
            </a:pPr>
            <a:r>
              <a:rPr lang="en-US" altLang="zh-CN">
                <a:latin typeface="宋体" pitchFamily="2" charset="-122"/>
              </a:rPr>
              <a:t>    </a:t>
            </a:r>
            <a:r>
              <a:rPr lang="zh-CN" altLang="en-US">
                <a:latin typeface="宋体" pitchFamily="2" charset="-122"/>
              </a:rPr>
              <a:t>测量的实践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057400"/>
            <a:ext cx="6324600" cy="4114800"/>
          </a:xfrm>
        </p:spPr>
        <p:txBody>
          <a:bodyPr/>
          <a:lstStyle/>
          <a:p>
            <a:r>
              <a:rPr lang="zh-CN" altLang="en-US"/>
              <a:t>项目管理者的责任</a:t>
            </a:r>
          </a:p>
          <a:p>
            <a:r>
              <a:rPr lang="zh-CN" altLang="en-US"/>
              <a:t>资源和成本的测量</a:t>
            </a:r>
          </a:p>
          <a:p>
            <a:r>
              <a:rPr lang="zh-CN" altLang="en-US"/>
              <a:t>项目进度与进展状态的测量</a:t>
            </a:r>
          </a:p>
          <a:p>
            <a:r>
              <a:rPr lang="zh-CN" altLang="en-US"/>
              <a:t>增长和稳定性测量</a:t>
            </a:r>
          </a:p>
          <a:p>
            <a:r>
              <a:rPr lang="zh-CN" altLang="en-US"/>
              <a:t>产品质量的测量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sz="4800"/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2057400" y="1981200"/>
          <a:ext cx="4495800" cy="430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Drawing" r:id="rId3" imgW="1342800" imgH="1285200" progId="FLW3Drawing">
                  <p:embed/>
                </p:oleObj>
              </mc:Choice>
              <mc:Fallback>
                <p:oleObj name="Drawing" r:id="rId3" imgW="1342800" imgH="1285200" progId="FLW3Drawing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81200"/>
                        <a:ext cx="4495800" cy="430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84</Words>
  <Application>Microsoft Office PowerPoint</Application>
  <PresentationFormat>全屏显示(4:3)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Office 主题​​</vt:lpstr>
      <vt:lpstr>Drawing</vt:lpstr>
      <vt:lpstr>项目管理的主要任务</vt:lpstr>
      <vt:lpstr>原型模型</vt:lpstr>
      <vt:lpstr>增量模型</vt:lpstr>
      <vt:lpstr>    测量的实践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软件项目管理</dc:title>
  <dc:creator>Zhang</dc:creator>
  <cp:lastModifiedBy>YlmF</cp:lastModifiedBy>
  <cp:revision>5</cp:revision>
  <dcterms:created xsi:type="dcterms:W3CDTF">2001-11-24T14:22:17Z</dcterms:created>
  <dcterms:modified xsi:type="dcterms:W3CDTF">2013-08-28T00:50:39Z</dcterms:modified>
</cp:coreProperties>
</file>