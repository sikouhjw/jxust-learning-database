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09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52961E4-E96F-4546-95D2-44185E67A848}" type="slidenum">
              <a:rPr lang="en-US" altLang="zh-CN"/>
              <a:pPr/>
              <a:t>‹#›</a:t>
            </a:fld>
            <a:endParaRPr lang="en-US" altLang="zh-CN"/>
          </a:p>
        </p:txBody>
      </p:sp>
    </p:spTree>
    <p:extLst>
      <p:ext uri="{BB962C8B-B14F-4D97-AF65-F5344CB8AC3E}">
        <p14:creationId xmlns:p14="http://schemas.microsoft.com/office/powerpoint/2010/main" val="1897926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69C79FD-8155-41FF-BBCA-D617DD28BC74}" type="slidenum">
              <a:rPr lang="en-US" altLang="zh-CN"/>
              <a:pPr/>
              <a:t>‹#›</a:t>
            </a:fld>
            <a:endParaRPr lang="en-US" altLang="zh-CN"/>
          </a:p>
        </p:txBody>
      </p:sp>
    </p:spTree>
    <p:extLst>
      <p:ext uri="{BB962C8B-B14F-4D97-AF65-F5344CB8AC3E}">
        <p14:creationId xmlns:p14="http://schemas.microsoft.com/office/powerpoint/2010/main" val="687852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09795A4-B68D-4056-BDE3-1A954936D633}" type="slidenum">
              <a:rPr lang="en-US" altLang="zh-CN"/>
              <a:pPr/>
              <a:t>‹#›</a:t>
            </a:fld>
            <a:endParaRPr lang="en-US" altLang="zh-CN"/>
          </a:p>
        </p:txBody>
      </p:sp>
    </p:spTree>
    <p:extLst>
      <p:ext uri="{BB962C8B-B14F-4D97-AF65-F5344CB8AC3E}">
        <p14:creationId xmlns:p14="http://schemas.microsoft.com/office/powerpoint/2010/main" val="3073894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F4658CF-B516-4AA0-AF32-C4F46C9AE812}" type="slidenum">
              <a:rPr lang="en-US" altLang="zh-CN"/>
              <a:pPr/>
              <a:t>‹#›</a:t>
            </a:fld>
            <a:endParaRPr lang="en-US" altLang="zh-CN"/>
          </a:p>
        </p:txBody>
      </p:sp>
    </p:spTree>
    <p:extLst>
      <p:ext uri="{BB962C8B-B14F-4D97-AF65-F5344CB8AC3E}">
        <p14:creationId xmlns:p14="http://schemas.microsoft.com/office/powerpoint/2010/main" val="3321953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85559974-9ABB-4C0E-982A-1F938D32A1E2}" type="slidenum">
              <a:rPr lang="en-US" altLang="zh-CN"/>
              <a:pPr/>
              <a:t>‹#›</a:t>
            </a:fld>
            <a:endParaRPr lang="en-US" altLang="zh-CN"/>
          </a:p>
        </p:txBody>
      </p:sp>
    </p:spTree>
    <p:extLst>
      <p:ext uri="{BB962C8B-B14F-4D97-AF65-F5344CB8AC3E}">
        <p14:creationId xmlns:p14="http://schemas.microsoft.com/office/powerpoint/2010/main" val="4121674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6BFD5AF4-EB90-4DE4-8B1B-E2E7F37F39A5}" type="slidenum">
              <a:rPr lang="en-US" altLang="zh-CN"/>
              <a:pPr/>
              <a:t>‹#›</a:t>
            </a:fld>
            <a:endParaRPr lang="en-US" altLang="zh-CN"/>
          </a:p>
        </p:txBody>
      </p:sp>
    </p:spTree>
    <p:extLst>
      <p:ext uri="{BB962C8B-B14F-4D97-AF65-F5344CB8AC3E}">
        <p14:creationId xmlns:p14="http://schemas.microsoft.com/office/powerpoint/2010/main" val="3444603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BF562753-811C-40C9-BBE1-0149BFFFB748}" type="slidenum">
              <a:rPr lang="en-US" altLang="zh-CN"/>
              <a:pPr/>
              <a:t>‹#›</a:t>
            </a:fld>
            <a:endParaRPr lang="en-US" altLang="zh-CN"/>
          </a:p>
        </p:txBody>
      </p:sp>
    </p:spTree>
    <p:extLst>
      <p:ext uri="{BB962C8B-B14F-4D97-AF65-F5344CB8AC3E}">
        <p14:creationId xmlns:p14="http://schemas.microsoft.com/office/powerpoint/2010/main" val="412568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EE39A29-EBE8-490E-9FAB-3C325C4B8608}" type="slidenum">
              <a:rPr lang="en-US" altLang="zh-CN"/>
              <a:pPr/>
              <a:t>‹#›</a:t>
            </a:fld>
            <a:endParaRPr lang="en-US" altLang="zh-CN"/>
          </a:p>
        </p:txBody>
      </p:sp>
    </p:spTree>
    <p:extLst>
      <p:ext uri="{BB962C8B-B14F-4D97-AF65-F5344CB8AC3E}">
        <p14:creationId xmlns:p14="http://schemas.microsoft.com/office/powerpoint/2010/main" val="4207670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A161A0E-C4B2-4A1C-961C-72335EFF8901}" type="slidenum">
              <a:rPr lang="en-US" altLang="zh-CN"/>
              <a:pPr/>
              <a:t>‹#›</a:t>
            </a:fld>
            <a:endParaRPr lang="en-US" altLang="zh-CN"/>
          </a:p>
        </p:txBody>
      </p:sp>
    </p:spTree>
    <p:extLst>
      <p:ext uri="{BB962C8B-B14F-4D97-AF65-F5344CB8AC3E}">
        <p14:creationId xmlns:p14="http://schemas.microsoft.com/office/powerpoint/2010/main" val="134257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CB889EF-43F4-4885-B6B4-EE75C2F0C024}" type="slidenum">
              <a:rPr lang="en-US" altLang="zh-CN"/>
              <a:pPr/>
              <a:t>‹#›</a:t>
            </a:fld>
            <a:endParaRPr lang="en-US" altLang="zh-CN"/>
          </a:p>
        </p:txBody>
      </p:sp>
    </p:spTree>
    <p:extLst>
      <p:ext uri="{BB962C8B-B14F-4D97-AF65-F5344CB8AC3E}">
        <p14:creationId xmlns:p14="http://schemas.microsoft.com/office/powerpoint/2010/main" val="2515821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E1628F8-134E-47F2-9FB7-56FD8C9F09B2}" type="slidenum">
              <a:rPr lang="en-US" altLang="zh-CN"/>
              <a:pPr/>
              <a:t>‹#›</a:t>
            </a:fld>
            <a:endParaRPr lang="en-US" altLang="zh-CN"/>
          </a:p>
        </p:txBody>
      </p:sp>
    </p:spTree>
    <p:extLst>
      <p:ext uri="{BB962C8B-B14F-4D97-AF65-F5344CB8AC3E}">
        <p14:creationId xmlns:p14="http://schemas.microsoft.com/office/powerpoint/2010/main" val="3483416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7A2B25C9-86B1-4FAD-BF7D-EA5C6B37A95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1600200"/>
            <a:ext cx="7772400" cy="1470025"/>
          </a:xfrm>
        </p:spPr>
        <p:txBody>
          <a:bodyPr/>
          <a:lstStyle/>
          <a:p>
            <a:r>
              <a:rPr lang="zh-CN" altLang="en-US"/>
              <a:t>玄武湖</a:t>
            </a:r>
          </a:p>
        </p:txBody>
      </p:sp>
      <p:pic>
        <p:nvPicPr>
          <p:cNvPr id="4100" name="Picture 4" descr="pptp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200400"/>
            <a:ext cx="3276600" cy="203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a:t>景区特色</a:t>
            </a:r>
          </a:p>
        </p:txBody>
      </p:sp>
      <p:sp>
        <p:nvSpPr>
          <p:cNvPr id="5123" name="Rectangle 3"/>
          <p:cNvSpPr>
            <a:spLocks noGrp="1" noChangeArrowheads="1"/>
          </p:cNvSpPr>
          <p:nvPr>
            <p:ph type="body" idx="1"/>
          </p:nvPr>
        </p:nvSpPr>
        <p:spPr/>
        <p:txBody>
          <a:bodyPr/>
          <a:lstStyle/>
          <a:p>
            <a:r>
              <a:rPr lang="zh-CN" altLang="en-US" sz="2800"/>
              <a:t>在南京主城区内，一名后湖，又名练湖，自东晋以来为胜地，玄武湖景区以国内外罕见的地质景观和良好的植被条件备受游客的青睐。群花招惹众蝶舞，山水引得百鸟来。如今，数百只野生鸽子、几十只野鸭子，几对鸳鸯和很多的鸟类，或在玄武岩的蜂巢里或在碧波荡漾的湖面上，或在迎风摇摆的枝头头栖息繁衍着。。 　　</a:t>
            </a:r>
          </a:p>
          <a:p>
            <a:r>
              <a:rPr lang="zh-CN" altLang="en-US" sz="2800"/>
              <a:t>湖水深度不超过</a:t>
            </a:r>
            <a:r>
              <a:rPr lang="en-US" altLang="zh-CN" sz="2800"/>
              <a:t>2</a:t>
            </a:r>
            <a:r>
              <a:rPr lang="zh-CN" altLang="en-US" sz="2800"/>
              <a:t>米，湖内养鱼，并种植荷花，夏秋两季，水面一片碧绿，粉红色荷花掩映其中，满湖清香，景色迷人。</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a:t>世纪回眸</a:t>
            </a:r>
          </a:p>
        </p:txBody>
      </p:sp>
      <p:sp>
        <p:nvSpPr>
          <p:cNvPr id="6147" name="Rectangle 3"/>
          <p:cNvSpPr>
            <a:spLocks noGrp="1" noChangeArrowheads="1"/>
          </p:cNvSpPr>
          <p:nvPr>
            <p:ph type="body" idx="1"/>
          </p:nvPr>
        </p:nvSpPr>
        <p:spPr/>
        <p:txBody>
          <a:bodyPr/>
          <a:lstStyle/>
          <a:p>
            <a:pPr>
              <a:lnSpc>
                <a:spcPct val="80000"/>
              </a:lnSpc>
            </a:pPr>
            <a:r>
              <a:rPr lang="zh-CN" altLang="en-US" sz="2400"/>
              <a:t>从公元前</a:t>
            </a:r>
            <a:r>
              <a:rPr lang="en-US" altLang="zh-CN" sz="2400"/>
              <a:t>221</a:t>
            </a:r>
            <a:r>
              <a:rPr lang="zh-CN" altLang="en-US" sz="2400"/>
              <a:t>年的先秦到西汉玄武湖分别称作秣陵湖、蒋陵湖。南朝时，玄武湖进入它在历史上的鼎盛时期。出于帝王都“四神布局”的需要，又由于宋元嘉年间湖中两次出现所谓的“黑龙”，湖名开始改为“玄武”。 　　</a:t>
            </a:r>
          </a:p>
          <a:p>
            <a:pPr>
              <a:lnSpc>
                <a:spcPct val="80000"/>
              </a:lnSpc>
            </a:pPr>
            <a:r>
              <a:rPr lang="zh-CN" altLang="en-US" sz="2400"/>
              <a:t>从东晋到梁代，玄武湖先后有过昆明湖、饮马塘、练湖、习武湖、练武湖等名称。隋唐以后，玄武湖随着都城的北移，逐渐衰落下来。</a:t>
            </a:r>
          </a:p>
          <a:p>
            <a:pPr>
              <a:lnSpc>
                <a:spcPct val="80000"/>
              </a:lnSpc>
            </a:pPr>
            <a:r>
              <a:rPr lang="zh-CN" altLang="en-US" sz="2400"/>
              <a:t>宋朝江宁府尹王安石泄湖得田，玄武湖因此而消失了二百多年，元时两次疏浚，玄武湖才重新在南京版图上出现，但面积已大大缩小，大约只有六朝时期的三分之一了。 　　</a:t>
            </a:r>
          </a:p>
          <a:p>
            <a:pPr>
              <a:lnSpc>
                <a:spcPct val="80000"/>
              </a:lnSpc>
            </a:pPr>
            <a:r>
              <a:rPr lang="zh-CN" altLang="en-US" sz="2400"/>
              <a:t>到明朝玄武湖的命运再度发生变化，明洪武十四年（</a:t>
            </a:r>
            <a:r>
              <a:rPr lang="en-US" altLang="zh-CN" sz="2400"/>
              <a:t>1381</a:t>
            </a:r>
            <a:r>
              <a:rPr lang="zh-CN" altLang="en-US" sz="2400"/>
              <a:t>年），朱元璋选中玄武湖作为明朝中央政府黄册的存放地，建后湖黄册库（相当于现在的中央档案馆）。玄武湖从此作为一代禁地，与外界隔绝了二百六十多年。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a:t>玄武湖五洲</a:t>
            </a:r>
          </a:p>
        </p:txBody>
      </p:sp>
      <p:sp>
        <p:nvSpPr>
          <p:cNvPr id="7171" name="Rectangle 3"/>
          <p:cNvSpPr>
            <a:spLocks noGrp="1" noChangeArrowheads="1"/>
          </p:cNvSpPr>
          <p:nvPr>
            <p:ph type="body" idx="1"/>
          </p:nvPr>
        </p:nvSpPr>
        <p:spPr/>
        <p:txBody>
          <a:bodyPr/>
          <a:lstStyle/>
          <a:p>
            <a:pPr>
              <a:lnSpc>
                <a:spcPct val="80000"/>
              </a:lnSpc>
            </a:pPr>
            <a:r>
              <a:rPr lang="zh-CN" altLang="en-US" sz="2800"/>
              <a:t>环洲，因洲形屈曲、环抱樱洲而得名，素有“环洲烟柳”之称。</a:t>
            </a:r>
          </a:p>
          <a:p>
            <a:pPr>
              <a:lnSpc>
                <a:spcPct val="80000"/>
              </a:lnSpc>
            </a:pPr>
            <a:r>
              <a:rPr lang="zh-CN" altLang="en-US" sz="2800"/>
              <a:t>梁洲，因传说梁昭明太子曾在此建有“梁园”，故称梁洲。此洲与南京火车站仅一水之隔，湖畔有游船可达，对外地旅客极为方便。</a:t>
            </a:r>
          </a:p>
          <a:p>
            <a:pPr>
              <a:lnSpc>
                <a:spcPct val="80000"/>
              </a:lnSpc>
            </a:pPr>
            <a:r>
              <a:rPr lang="zh-CN" altLang="en-US" sz="2800"/>
              <a:t>翠洲风光幽静，苍松、翠柏、嫩柳、淡竹，构成了“翠洲云树”的特色，是生态休闲的好去处。 </a:t>
            </a:r>
          </a:p>
          <a:p>
            <a:pPr>
              <a:lnSpc>
                <a:spcPct val="80000"/>
              </a:lnSpc>
            </a:pPr>
            <a:r>
              <a:rPr lang="zh-CN" altLang="en-US" sz="2800"/>
              <a:t>樱洲，因昔日樱桃遍布洲上，曾为宫廷贡品，故而得名。樱洲花繁叶茂，形成“樱洲花海”的盛景。 </a:t>
            </a:r>
          </a:p>
          <a:p>
            <a:pPr>
              <a:lnSpc>
                <a:spcPct val="80000"/>
              </a:lnSpc>
            </a:pPr>
            <a:r>
              <a:rPr lang="zh-CN" altLang="en-US" sz="2800"/>
              <a:t>菱洲，因这里过去多产菱角，故名菱洲，自古有“菱洲山岚”之美名。</a:t>
            </a:r>
          </a:p>
          <a:p>
            <a:pPr>
              <a:lnSpc>
                <a:spcPct val="80000"/>
              </a:lnSpc>
            </a:pPr>
            <a:endParaRPr lang="en-US" altLang="zh-CN" sz="280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11</TotalTime>
  <Words>314</Words>
  <Application>Microsoft Office PowerPoint</Application>
  <PresentationFormat>全屏显示(4:3)</PresentationFormat>
  <Paragraphs>15</Paragraphs>
  <Slides>4</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vt:i4>
      </vt:variant>
    </vt:vector>
  </HeadingPairs>
  <TitlesOfParts>
    <vt:vector size="7" baseType="lpstr">
      <vt:lpstr>Arial</vt:lpstr>
      <vt:lpstr>宋体</vt:lpstr>
      <vt:lpstr>默认设计模板</vt:lpstr>
      <vt:lpstr>玄武湖</vt:lpstr>
      <vt:lpstr>景区特色</vt:lpstr>
      <vt:lpstr>世纪回眸</vt:lpstr>
      <vt:lpstr>玄武湖五洲</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Shijch</cp:lastModifiedBy>
  <cp:revision>4</cp:revision>
  <cp:lastPrinted>1601-01-01T00:00:00Z</cp:lastPrinted>
  <dcterms:created xsi:type="dcterms:W3CDTF">1601-01-01T00:00:00Z</dcterms:created>
  <dcterms:modified xsi:type="dcterms:W3CDTF">2012-11-15T03:21:06Z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